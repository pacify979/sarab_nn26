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 autoAdjust="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57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1843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[~65s]  Ako te pitaju za odstupanje: referentna implementacija koristi normalizovani laplasijan, mi normalizovanu matricu susedstva (Kipf &amp; Welling). To je dokumentovano u radu.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[~55s]  Ovaj slajd čini brojke opipljivim. 0,4 m je pola širine ramena. Ključna poenta na dnu: razlika između modela je manja od širine prsta.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[~65s]  Tehnički najzanimljiviji deo. Poenta priče: merio sam umesto da nagađam. Bez ovog ubrzanja Optuna pretraga ne bi bila izvodljiva. Napomena o BatchNorm-u pokazuje da si svesna granica sopstvene tvrdnje.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i="0">
                <a:solidFill>
                  <a:srgbClr val="149C8B"/>
                </a:solidFill>
                <a:latin typeface="Calibri"/>
              </a:rPr>
              <a:t>PROJEKAT IZ NEURONSKIH MREŽA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051560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Predikcija socijalno prihvatljivih trajektorija robota u dinamičkim okruženjima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4903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0" i="0">
                <a:solidFill>
                  <a:srgbClr val="C8D0DC"/>
                </a:solidFill>
                <a:latin typeface="Calibri"/>
              </a:rPr>
              <a:t>Da li modelovanje socijalnih interakcija zaista pomaže?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805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0">
                <a:solidFill>
                  <a:srgbClr val="C8D0DC"/>
                </a:solidFill>
                <a:latin typeface="Calibri"/>
              </a:rPr>
              <a:t>ETH-UCY · LSTM baseline · Social-STGCNN · kontrolisani eksperiment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5486400" cy="7437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 dirty="0">
                <a:solidFill>
                  <a:srgbClr val="FFFFFF"/>
                </a:solidFill>
                <a:latin typeface="Calibri"/>
              </a:rPr>
              <a:t>Sara Babić</a:t>
            </a:r>
            <a:r>
              <a:rPr lang="sr-Latn-RS" sz="1600" b="1" i="0" dirty="0">
                <a:solidFill>
                  <a:srgbClr val="FFFFFF"/>
                </a:solidFill>
                <a:latin typeface="Calibri"/>
              </a:rPr>
              <a:t> E9 1/2025</a:t>
            </a:r>
          </a:p>
          <a:p>
            <a:r>
              <a:rPr lang="sr-Latn-RS" sz="1600" b="1" dirty="0">
                <a:solidFill>
                  <a:srgbClr val="FFFFFF"/>
                </a:solidFill>
                <a:latin typeface="Calibri"/>
              </a:rPr>
              <a:t>Mašinsko učenje i veštačka inteligencija</a:t>
            </a:r>
            <a:endParaRPr sz="1600" b="1" i="0" dirty="0">
              <a:solidFill>
                <a:srgbClr val="FFFFFF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300" b="0" i="0" dirty="0">
                <a:solidFill>
                  <a:srgbClr val="C8D0DC"/>
                </a:solidFill>
                <a:latin typeface="Calibri"/>
              </a:rPr>
              <a:t>Avgust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Pregled izlaganja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49C8B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2D45"/>
                </a:solidFill>
                <a:latin typeface="Calibri"/>
              </a:rPr>
              <a:t>1 · Teorijski deo</a:t>
            </a:r>
            <a:r>
              <a:rPr sz="1600" b="0" i="0">
                <a:solidFill>
                  <a:srgbClr val="1F2D45"/>
                </a:solidFill>
                <a:latin typeface="Calibri"/>
              </a:rPr>
              <a:t>  (~5 min)</a:t>
            </a:r>
          </a:p>
          <a:p>
            <a:pPr>
              <a:spcBef>
                <a:spcPts val="900"/>
              </a:spcBef>
            </a:pPr>
            <a:r>
              <a:rPr sz="1450" b="0" i="0">
                <a:solidFill>
                  <a:srgbClr val="6B7485"/>
                </a:solidFill>
                <a:latin typeface="Calibri"/>
              </a:rPr>
              <a:t>     •  Zašto robotu treba predikcija · LSTM · scena kao graf</a:t>
            </a:r>
          </a:p>
          <a:p>
            <a:pPr>
              <a:spcBef>
                <a:spcPts val="900"/>
              </a:spcBef>
            </a:pPr>
            <a:r>
              <a:rPr sz="1450" b="0" i="0">
                <a:solidFill>
                  <a:srgbClr val="6B7485"/>
                </a:solidFill>
                <a:latin typeface="Calibri"/>
              </a:rPr>
              <a:t>     •  Zašto raspodela umesto tačke · metrike i protokol evaluacije</a:t>
            </a:r>
          </a:p>
          <a:p>
            <a:pPr>
              <a:spcBef>
                <a:spcPts val="900"/>
              </a:spcBef>
            </a:pPr>
            <a:r>
              <a:rPr sz="1600" b="1" i="0">
                <a:solidFill>
                  <a:srgbClr val="149C8B"/>
                </a:solidFill>
                <a:latin typeface="Calibri"/>
              </a:rPr>
              <a:t>▸ </a:t>
            </a:r>
            <a:r>
              <a:rPr sz="1600" b="1" i="0">
                <a:solidFill>
                  <a:srgbClr val="1F2D45"/>
                </a:solidFill>
                <a:latin typeface="Calibri"/>
              </a:rPr>
              <a:t>2 · Praktični deo</a:t>
            </a:r>
            <a:r>
              <a:rPr sz="1600" b="0" i="0">
                <a:solidFill>
                  <a:srgbClr val="1F2D45"/>
                </a:solidFill>
                <a:latin typeface="Calibri"/>
              </a:rPr>
              <a:t>  (~9 min)</a:t>
            </a:r>
          </a:p>
          <a:p>
            <a:pPr>
              <a:spcBef>
                <a:spcPts val="900"/>
              </a:spcBef>
            </a:pPr>
            <a:r>
              <a:rPr sz="1450" b="0" i="0">
                <a:solidFill>
                  <a:srgbClr val="6B7485"/>
                </a:solidFill>
                <a:latin typeface="Calibri"/>
              </a:rPr>
              <a:t>     •  Podaci i tri modela · optimizacija treninga · Optuna</a:t>
            </a:r>
          </a:p>
          <a:p>
            <a:pPr>
              <a:spcBef>
                <a:spcPts val="900"/>
              </a:spcBef>
            </a:pPr>
            <a:r>
              <a:rPr sz="1450" b="0" i="0">
                <a:solidFill>
                  <a:srgbClr val="6B7485"/>
                </a:solidFill>
                <a:latin typeface="Calibri"/>
              </a:rPr>
              <a:t>     •  Rezultati, kvalitativna analiza i zaključak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4160520"/>
            <a:ext cx="11057839" cy="114300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4453128"/>
            <a:ext cx="1050919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149C8B"/>
                </a:solidFill>
                <a:latin typeface="Calibri"/>
              </a:rPr>
              <a:t>Glavni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 </a:t>
            </a:r>
            <a:r>
              <a:rPr lang="sr-Latn-RS" sz="1350" b="1" dirty="0">
                <a:solidFill>
                  <a:srgbClr val="149C8B"/>
                </a:solidFill>
                <a:latin typeface="Calibri"/>
              </a:rPr>
              <a:t>rezultat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kada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kontroliše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funkcija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gubitka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graf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model 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ne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donosi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prosečnu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prednost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(0,415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naspram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0,405 m ADE) ·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stvarni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dobici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modelovanje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neizvesnosti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(−27 %)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26×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manji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broj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parametara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TEORIJSKI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Zašto robotu treba predikcija trajektorija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1631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Robot koji deli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prostor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ljudima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ne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sme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da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ih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tretira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kao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statične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prepreke</a:t>
            </a:r>
            <a:endParaRPr sz="1550" b="1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Klasični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planeri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(A*, RRT, DWA)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optimizuju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dužinu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putanje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nad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trenutnim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snimkom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:</a:t>
            </a:r>
          </a:p>
          <a:p>
            <a:pPr>
              <a:spcBef>
                <a:spcPts val="900"/>
              </a:spcBef>
            </a:pPr>
            <a:r>
              <a:rPr sz="1400" b="0" i="0" dirty="0">
                <a:solidFill>
                  <a:srgbClr val="6B7485"/>
                </a:solidFill>
                <a:latin typeface="Calibri"/>
              </a:rPr>
              <a:t>     • 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preseku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grupu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koja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razgovara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·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prođu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neprijatno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blizu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·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zamrznu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se u </a:t>
            </a:r>
            <a:r>
              <a:rPr sz="1400" b="0" i="0" dirty="0" err="1">
                <a:solidFill>
                  <a:srgbClr val="6B7485"/>
                </a:solidFill>
                <a:latin typeface="Calibri"/>
              </a:rPr>
              <a:t>gužvi</a:t>
            </a:r>
            <a:r>
              <a:rPr sz="1400" b="0" i="0" dirty="0">
                <a:solidFill>
                  <a:srgbClr val="6B7485"/>
                </a:solidFill>
                <a:latin typeface="Calibri"/>
              </a:rPr>
              <a:t> (*freezing robot problem*)</a:t>
            </a: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Socijalne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norme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nevidljive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u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podacima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o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preprekama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lični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prostor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grupe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pravo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prolaza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Da bi planer bio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socijalno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svestan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prvo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mora da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zna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će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ljudi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biti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za 4</a:t>
            </a:r>
            <a:r>
              <a:rPr lang="sr-Latn-RS" sz="1550" b="1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5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sekundi</a:t>
            </a:r>
            <a:endParaRPr sz="1550" b="1" i="0" dirty="0">
              <a:solidFill>
                <a:srgbClr val="1F2D45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4114800"/>
            <a:ext cx="11057839" cy="123444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4270248"/>
            <a:ext cx="10509199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149C8B"/>
                </a:solidFill>
                <a:latin typeface="Calibri"/>
              </a:rPr>
              <a:t>Zadatak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iz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8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osmotrenih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frejmova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(3,2 s)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predvideti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narednih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12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frejmova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(4,8 s)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za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svakog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pešaka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u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sceni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350" b="1" i="0" dirty="0" err="1">
                <a:solidFill>
                  <a:srgbClr val="DE7B28"/>
                </a:solidFill>
                <a:latin typeface="Calibri"/>
              </a:rPr>
              <a:t>Važno</a:t>
            </a:r>
            <a:r>
              <a:rPr sz="1350" b="1" i="0" dirty="0">
                <a:solidFill>
                  <a:srgbClr val="DE7B28"/>
                </a:solidFill>
                <a:latin typeface="Calibri"/>
              </a:rPr>
              <a:t>: 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model ne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vidi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video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ulaz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već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izdvojene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(x, y)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koordinate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u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metrima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;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detekcija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praćenje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pretpostavljeni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TEORIJSKI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Rekurentne mreže: LSTM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731520" y="1463040"/>
                <a:ext cx="10728655" cy="1654107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spcBef>
                    <a:spcPts val="0"/>
                  </a:spcBef>
                </a:pPr>
                <a:r>
                  <a:rPr lang="en-US" sz="1550" b="1" i="0" dirty="0">
                    <a:solidFill>
                      <a:srgbClr val="149C8B"/>
                    </a:solidFill>
                    <a:latin typeface="Calibri"/>
                  </a:rPr>
                  <a:t>▸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Kretanje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pešaka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je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vremenska</a:t>
                </a:r>
                <a:r>
                  <a:rPr lang="en-US" sz="1550" b="1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serija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-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mreži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treba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pamćenje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istorije</a:t>
                </a:r>
                <a:endParaRPr lang="en-US" sz="1550" b="0" i="0" dirty="0">
                  <a:solidFill>
                    <a:srgbClr val="1F2D45"/>
                  </a:solidFill>
                  <a:latin typeface="Calibri"/>
                </a:endParaRPr>
              </a:p>
              <a:p>
                <a:pPr>
                  <a:spcBef>
                    <a:spcPts val="900"/>
                  </a:spcBef>
                </a:pPr>
                <a:r>
                  <a:rPr lang="en-US" sz="1550" b="1" i="0" dirty="0">
                    <a:solidFill>
                      <a:srgbClr val="149C8B"/>
                    </a:solidFill>
                    <a:latin typeface="Calibri"/>
                  </a:rPr>
                  <a:t>▸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Obična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RNN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pati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od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nestajućeg</a:t>
                </a:r>
                <a:r>
                  <a:rPr lang="en-US" sz="1550" b="1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gradijenta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: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kroz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mnogo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koraka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unazad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gradijent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se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množi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i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eksponencijalno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teži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nuli</a:t>
                </a:r>
                <a:endParaRPr lang="en-US" sz="1550" b="0" i="0" dirty="0">
                  <a:solidFill>
                    <a:srgbClr val="1F2D45"/>
                  </a:solidFill>
                  <a:latin typeface="Calibri"/>
                </a:endParaRPr>
              </a:p>
              <a:p>
                <a:pPr>
                  <a:spcBef>
                    <a:spcPts val="900"/>
                  </a:spcBef>
                </a:pPr>
                <a:r>
                  <a:rPr lang="en-US" sz="1550" b="1" i="0" dirty="0">
                    <a:solidFill>
                      <a:srgbClr val="149C8B"/>
                    </a:solidFill>
                    <a:latin typeface="Calibri"/>
                  </a:rPr>
                  <a:t>▸ 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LSTM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uvodi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ćelijsko</a:t>
                </a:r>
                <a:r>
                  <a:rPr lang="en-US" sz="1550" b="1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stanje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koje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kroz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vreme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teče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1" i="0" dirty="0" err="1">
                    <a:solidFill>
                      <a:srgbClr val="1F2D45"/>
                    </a:solidFill>
                    <a:latin typeface="Calibri"/>
                  </a:rPr>
                  <a:t>aditivno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r-Latn-R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r-Latn-R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550" b="0" i="1" dirty="0" smtClean="0">
                        <a:solidFill>
                          <a:srgbClr val="1F2D45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550" i="1" dirty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ar-AE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sz="1550" b="0" i="1" dirty="0" smtClean="0">
                        <a:solidFill>
                          <a:srgbClr val="1F2D45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ar-AE" sz="1550" b="0" i="0" dirty="0">
                    <a:solidFill>
                      <a:srgbClr val="1F2D45"/>
                    </a:solidFill>
                    <a:latin typeface="Calibri"/>
                  </a:rPr>
                  <a:t>·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1550" dirty="0">
                            <a:solidFill>
                              <a:srgbClr val="1F2D45"/>
                            </a:solidFill>
                          </a:rPr>
                          <m:t>c</m:t>
                        </m:r>
                      </m:e>
                      <m:sub>
                        <m:r>
                          <a:rPr lang="ar-AE" sz="1550" i="1" dirty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 sz="1550" i="1" dirty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ar-AE" sz="1550" i="1" dirty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1550" i="1" dirty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 sz="1550" i="1" dirty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</m:oMath>
                </a14:m>
                <a:r>
                  <a:rPr lang="ar-AE" sz="1550" b="0" i="0" dirty="0">
                    <a:solidFill>
                      <a:srgbClr val="1F2D45"/>
                    </a:solidFill>
                    <a:latin typeface="Calibri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r-Latn-R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sr-Latn-R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·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550" b="0" i="1" dirty="0" smtClean="0">
                            <a:solidFill>
                              <a:srgbClr val="1F2D4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550" b="0" i="1" dirty="0" smtClean="0">
                                <a:solidFill>
                                  <a:srgbClr val="1F2D4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r-Latn-RS" sz="1550" b="0" i="1" dirty="0" smtClean="0">
                                <a:solidFill>
                                  <a:srgbClr val="1F2D45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sr-Latn-RS" sz="1550" b="0" i="1" dirty="0" smtClean="0">
                                <a:solidFill>
                                  <a:srgbClr val="1F2D4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), pa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gradijent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ne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biva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ugušen</a:t>
                </a:r>
                <a:endParaRPr lang="en-US" sz="1550" b="0" i="0" dirty="0">
                  <a:solidFill>
                    <a:srgbClr val="1F2D45"/>
                  </a:solidFill>
                  <a:latin typeface="Calibri"/>
                </a:endParaRPr>
              </a:p>
              <a:p>
                <a:pPr>
                  <a:spcBef>
                    <a:spcPts val="900"/>
                  </a:spcBef>
                </a:pP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     •  tri 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kapije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: forget (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šta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 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zaboraviti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) · input (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šta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 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upisati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) · output (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šta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 </a:t>
                </a:r>
                <a:r>
                  <a:rPr lang="en-US" sz="1400" b="0" i="0" dirty="0" err="1">
                    <a:solidFill>
                      <a:srgbClr val="6B7485"/>
                    </a:solidFill>
                    <a:latin typeface="Calibri"/>
                  </a:rPr>
                  <a:t>izložiti</a:t>
                </a:r>
                <a:r>
                  <a:rPr lang="en-US" sz="1400" b="0" i="0" dirty="0">
                    <a:solidFill>
                      <a:srgbClr val="6B7485"/>
                    </a:solidFill>
                    <a:latin typeface="Calibri"/>
                  </a:rPr>
                  <a:t>)</a:t>
                </a:r>
              </a:p>
              <a:p>
                <a:pPr>
                  <a:spcBef>
                    <a:spcPts val="900"/>
                  </a:spcBef>
                </a:pPr>
                <a:r>
                  <a:rPr lang="en-US" sz="1550" b="1" i="0" dirty="0">
                    <a:solidFill>
                      <a:srgbClr val="149C8B"/>
                    </a:solidFill>
                    <a:latin typeface="Calibri"/>
                  </a:rPr>
                  <a:t>▸ 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Encoder</a:t>
                </a:r>
                <a:r>
                  <a:rPr lang="sr-Latn-RS" sz="1550" b="0" i="0" dirty="0">
                    <a:solidFill>
                      <a:srgbClr val="1F2D45"/>
                    </a:solidFill>
                    <a:latin typeface="Calibri"/>
                  </a:rPr>
                  <a:t>-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decoder: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enkoder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sažme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8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koraka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,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dekoder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autoregresivno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</a:t>
                </a:r>
                <a:r>
                  <a:rPr lang="en-US" sz="1550" b="0" i="0" dirty="0" err="1">
                    <a:solidFill>
                      <a:srgbClr val="1F2D45"/>
                    </a:solidFill>
                    <a:latin typeface="Calibri"/>
                  </a:rPr>
                  <a:t>generiše</a:t>
                </a:r>
                <a:r>
                  <a:rPr lang="en-US" sz="1550" b="0" i="0" dirty="0">
                    <a:solidFill>
                      <a:srgbClr val="1F2D45"/>
                    </a:solidFill>
                    <a:latin typeface="Calibri"/>
                  </a:rPr>
                  <a:t> 12</a:t>
                </a:r>
                <a:endParaRPr sz="1550" b="0" i="0" dirty="0">
                  <a:solidFill>
                    <a:srgbClr val="1F2D45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1463040"/>
                <a:ext cx="10728655" cy="1654107"/>
              </a:xfrm>
              <a:prstGeom prst="rect">
                <a:avLst/>
              </a:prstGeom>
              <a:blipFill>
                <a:blip r:embed="rId3"/>
                <a:stretch>
                  <a:fillRect l="-1080" t="-4059" b="-6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566928" y="4206240"/>
            <a:ext cx="11057839" cy="114300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4361688"/>
            <a:ext cx="1050919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149C8B"/>
                </a:solidFill>
                <a:latin typeface="Calibri"/>
              </a:rPr>
              <a:t>Ključna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49C8B"/>
                </a:solidFill>
                <a:latin typeface="Calibri"/>
              </a:rPr>
              <a:t>odluka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 u </a:t>
            </a:r>
            <a:r>
              <a:rPr sz="1350" b="1" i="0" dirty="0" err="1">
                <a:solidFill>
                  <a:srgbClr val="149C8B"/>
                </a:solidFill>
                <a:latin typeface="Calibri"/>
              </a:rPr>
              <a:t>implementaciji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model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radi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nad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relativnim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pomeranjima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(dx,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dy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)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, ne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nad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apsolutnim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koordinatama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Svaka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scena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ima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svoj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koordinatni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sistem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350" dirty="0">
                <a:solidFill>
                  <a:srgbClr val="1F2D45"/>
                </a:solidFill>
                <a:latin typeface="Calibri"/>
              </a:rPr>
              <a:t>-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apsolutne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koordinate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uče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*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ljudi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stoje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*, 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pomeranja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uče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*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kako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ljudi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kreću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*.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TEORIJSKI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Scena kao dinamički graf: ST-GCNN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1300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LSTM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obrađuje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svakog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pešaka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nezavisno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nema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načina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da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informacija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o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susedu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uđe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u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predikciju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Graf: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čvorovi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=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pešaci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težina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grane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= 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1 /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udaljenost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direktna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formalizacija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ličnog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prostora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Normalizacija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Â = D^(−1/2)(A + I)D^(−1/2); bez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dodatog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I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čvor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bi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pri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agregaciji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izgubio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sopstvenu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informaciju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Graf je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dinamički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menja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se u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svakom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vremenskom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koraku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jer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se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ljudi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kreću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4069080"/>
            <a:ext cx="5419191" cy="1463040"/>
          </a:xfrm>
          <a:prstGeom prst="roundRect">
            <a:avLst>
              <a:gd name="adj" fmla="val 10000"/>
            </a:avLst>
          </a:prstGeom>
          <a:solidFill>
            <a:srgbClr val="F2F3F7"/>
          </a:solidFill>
          <a:ln w="19050">
            <a:solidFill>
              <a:srgbClr val="149C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4251960"/>
            <a:ext cx="494370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149C8B"/>
                </a:solidFill>
                <a:latin typeface="Calibri"/>
              </a:rPr>
              <a:t>PROSTORNA KOMPONENTA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1F2D45"/>
                </a:solidFill>
                <a:latin typeface="Calibri"/>
              </a:rPr>
              <a:t>Graph konvolucija</a:t>
            </a:r>
          </a:p>
          <a:p>
            <a:pPr>
              <a:spcBef>
                <a:spcPts val="700"/>
              </a:spcBef>
            </a:pPr>
            <a:r>
              <a:rPr sz="1150" b="0" i="0">
                <a:solidFill>
                  <a:srgbClr val="6B7485"/>
                </a:solidFill>
                <a:latin typeface="Calibri"/>
              </a:rPr>
              <a:t>agregira susede u svakom vremenskom trenutku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5575" y="4069080"/>
            <a:ext cx="5419191" cy="1463040"/>
          </a:xfrm>
          <a:prstGeom prst="roundRect">
            <a:avLst>
              <a:gd name="adj" fmla="val 10000"/>
            </a:avLst>
          </a:prstGeom>
          <a:solidFill>
            <a:srgbClr val="F2F3F7"/>
          </a:solidFill>
          <a:ln w="19050">
            <a:solidFill>
              <a:srgbClr val="DE7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3319" y="4251960"/>
            <a:ext cx="4943703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dirty="0">
                <a:solidFill>
                  <a:srgbClr val="DE7B28"/>
                </a:solidFill>
                <a:latin typeface="Calibri"/>
              </a:rPr>
              <a:t>VREMENSKA KOMPONENTA</a:t>
            </a:r>
          </a:p>
          <a:p>
            <a:pPr>
              <a:spcBef>
                <a:spcPts val="700"/>
              </a:spcBef>
            </a:pPr>
            <a:r>
              <a:rPr sz="1400" b="1" i="0" dirty="0">
                <a:solidFill>
                  <a:srgbClr val="1F2D45"/>
                </a:solidFill>
                <a:latin typeface="Calibri"/>
              </a:rPr>
              <a:t>TCN + TXP-CNN</a:t>
            </a:r>
          </a:p>
          <a:p>
            <a:pPr>
              <a:spcBef>
                <a:spcPts val="700"/>
              </a:spcBef>
            </a:pPr>
            <a:r>
              <a:rPr sz="1150" b="0" i="0" dirty="0" err="1">
                <a:solidFill>
                  <a:srgbClr val="6B7485"/>
                </a:solidFill>
                <a:latin typeface="Calibri"/>
              </a:rPr>
              <a:t>konvolucija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 po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vremenskoj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osi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: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svih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 12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koraka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 u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jednom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prolazu</a:t>
            </a:r>
            <a:r>
              <a:rPr sz="1150" b="0" i="0" dirty="0">
                <a:solidFill>
                  <a:srgbClr val="6B7485"/>
                </a:solidFill>
                <a:latin typeface="Calibri"/>
              </a:rPr>
              <a:t>, ne </a:t>
            </a:r>
            <a:r>
              <a:rPr sz="1150" b="0" i="0" dirty="0" err="1">
                <a:solidFill>
                  <a:srgbClr val="6B7485"/>
                </a:solidFill>
                <a:latin typeface="Calibri"/>
              </a:rPr>
              <a:t>rekurentno</a:t>
            </a:r>
            <a:endParaRPr sz="1150" b="0" i="0" dirty="0">
              <a:solidFill>
                <a:srgbClr val="6B748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TEORIJSKI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Zašto raspodela, a ne jedna tačka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1300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Budućnost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multimodalna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: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pešak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pred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raskrsnicom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može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levo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ili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desno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obe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opcije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ispravne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Model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treniran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L2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gubitkom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uči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C0392B"/>
                </a:solidFill>
                <a:latin typeface="Calibri"/>
              </a:rPr>
              <a:t>uslovno</a:t>
            </a:r>
            <a:r>
              <a:rPr sz="1550" b="1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C0392B"/>
                </a:solidFill>
                <a:latin typeface="Calibri"/>
              </a:rPr>
              <a:t>očekivanje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→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predviđa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tačku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*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između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*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dve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mogućnosti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kroz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koju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pešak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nikada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neće</a:t>
            </a:r>
            <a:r>
              <a:rPr sz="155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C0392B"/>
                </a:solidFill>
                <a:latin typeface="Calibri"/>
              </a:rPr>
              <a:t>proći</a:t>
            </a:r>
            <a:endParaRPr sz="1550" b="0" i="0" dirty="0">
              <a:solidFill>
                <a:srgbClr val="C0392B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Rešenje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: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izlaz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parametri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bivarijantne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Gausove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raspodele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(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μx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μy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σx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σy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, ρ),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trening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negativnom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log-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izglednošću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Model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tada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uči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koliko</a:t>
            </a:r>
            <a:r>
              <a:rPr sz="1550" b="1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550" b="1" i="0" dirty="0" err="1">
                <a:solidFill>
                  <a:srgbClr val="1F2D45"/>
                </a:solidFill>
                <a:latin typeface="Calibri"/>
              </a:rPr>
              <a:t>siguran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σ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raste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tamo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ima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više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mogućih</a:t>
            </a:r>
            <a:r>
              <a:rPr sz="15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50" b="0" i="0" dirty="0" err="1">
                <a:solidFill>
                  <a:srgbClr val="1F2D45"/>
                </a:solidFill>
                <a:latin typeface="Calibri"/>
              </a:rPr>
              <a:t>ishoda</a:t>
            </a:r>
            <a:endParaRPr sz="1550" b="0" i="0" dirty="0">
              <a:solidFill>
                <a:srgbClr val="1F2D45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4114800"/>
            <a:ext cx="11057839" cy="128016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4270248"/>
            <a:ext cx="10509199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>
                <a:solidFill>
                  <a:srgbClr val="149C8B"/>
                </a:solidFill>
                <a:latin typeface="Calibri"/>
              </a:rPr>
              <a:t>Za </a:t>
            </a:r>
            <a:r>
              <a:rPr sz="1350" b="1" i="0" dirty="0" err="1">
                <a:solidFill>
                  <a:srgbClr val="149C8B"/>
                </a:solidFill>
                <a:latin typeface="Calibri"/>
              </a:rPr>
              <a:t>robotiku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raspodela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korisnija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od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tačke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heatmap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verovatnoće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direktno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upotrebljiv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kao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polje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cene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za planer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putanje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600"/>
              </a:spcBef>
            </a:pPr>
            <a:r>
              <a:rPr sz="1350" b="1" i="0" dirty="0">
                <a:solidFill>
                  <a:srgbClr val="DE7B28"/>
                </a:solidFill>
                <a:latin typeface="Calibri"/>
              </a:rPr>
              <a:t>Best-of-20: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standardni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protokol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iz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literature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uzorkuje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se 20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trajektorija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uzima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najbolja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; meri da li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stvarna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budućnost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leži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unutar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naučene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raspodele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TEORIJSKI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Metrike: šta znači greška od 0,4 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25880"/>
            <a:ext cx="5419191" cy="1143000"/>
          </a:xfrm>
          <a:prstGeom prst="roundRect">
            <a:avLst>
              <a:gd name="adj" fmla="val 10000"/>
            </a:avLst>
          </a:prstGeom>
          <a:solidFill>
            <a:srgbClr val="F2F3F7"/>
          </a:solidFill>
          <a:ln w="19050">
            <a:solidFill>
              <a:srgbClr val="149C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508760"/>
            <a:ext cx="4943703" cy="7181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dirty="0">
                <a:solidFill>
                  <a:srgbClr val="149C8B"/>
                </a:solidFill>
                <a:latin typeface="Calibri"/>
              </a:rPr>
              <a:t>ADE </a:t>
            </a:r>
            <a:r>
              <a:rPr lang="sr-Latn-RS" sz="1200" b="1" i="0" dirty="0">
                <a:solidFill>
                  <a:srgbClr val="149C8B"/>
                </a:solidFill>
                <a:latin typeface="Calibri"/>
              </a:rPr>
              <a:t>-</a:t>
            </a:r>
            <a:r>
              <a:rPr sz="1200" b="1" i="0" dirty="0">
                <a:solidFill>
                  <a:srgbClr val="149C8B"/>
                </a:solidFill>
                <a:latin typeface="Calibri"/>
              </a:rPr>
              <a:t> AVERAGE DISPLACEMENT ERROR</a:t>
            </a:r>
          </a:p>
          <a:p>
            <a:pPr>
              <a:spcBef>
                <a:spcPts val="700"/>
              </a:spcBef>
            </a:pPr>
            <a:r>
              <a:rPr sz="1250" b="1" i="0" dirty="0" err="1">
                <a:solidFill>
                  <a:srgbClr val="1F2D45"/>
                </a:solidFill>
                <a:latin typeface="Calibri"/>
              </a:rPr>
              <a:t>Srednja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euklidska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udaljenost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kroz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svih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12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koraka</a:t>
            </a:r>
            <a:endParaRPr sz="1250" b="1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700"/>
              </a:spcBef>
            </a:pPr>
            <a:r>
              <a:rPr sz="1050" b="0" i="0" dirty="0">
                <a:solidFill>
                  <a:srgbClr val="6B7485"/>
                </a:solidFill>
                <a:latin typeface="Calibri"/>
              </a:rPr>
              <a:t>u </a:t>
            </a:r>
            <a:r>
              <a:rPr sz="1050" b="0" i="0" dirty="0" err="1">
                <a:solidFill>
                  <a:srgbClr val="6B7485"/>
                </a:solidFill>
                <a:latin typeface="Calibri"/>
              </a:rPr>
              <a:t>metrima</a:t>
            </a:r>
            <a:r>
              <a:rPr sz="10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lang="sr-Latn-RS" sz="1050" b="0" i="0" dirty="0">
                <a:solidFill>
                  <a:srgbClr val="6B7485"/>
                </a:solidFill>
                <a:latin typeface="Calibri"/>
              </a:rPr>
              <a:t>-</a:t>
            </a:r>
            <a:r>
              <a:rPr sz="1050" b="0" i="0" dirty="0">
                <a:solidFill>
                  <a:srgbClr val="6B7485"/>
                </a:solidFill>
                <a:latin typeface="Calibri"/>
              </a:rPr>
              <a:t> NIJE </a:t>
            </a:r>
            <a:r>
              <a:rPr sz="1050" b="0" i="0" dirty="0" err="1">
                <a:solidFill>
                  <a:srgbClr val="6B7485"/>
                </a:solidFill>
                <a:latin typeface="Calibri"/>
              </a:rPr>
              <a:t>srednja</a:t>
            </a:r>
            <a:r>
              <a:rPr sz="10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6B7485"/>
                </a:solidFill>
                <a:latin typeface="Calibri"/>
              </a:rPr>
              <a:t>kvadratna</a:t>
            </a:r>
            <a:r>
              <a:rPr sz="10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6B7485"/>
                </a:solidFill>
                <a:latin typeface="Calibri"/>
              </a:rPr>
              <a:t>greška</a:t>
            </a:r>
            <a:r>
              <a:rPr sz="1050" b="0" i="0" dirty="0">
                <a:solidFill>
                  <a:srgbClr val="6B7485"/>
                </a:solidFill>
                <a:latin typeface="Calibri"/>
              </a:rPr>
              <a:t> (MSE bi bio u m²)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5" y="1325880"/>
            <a:ext cx="5419191" cy="1143000"/>
          </a:xfrm>
          <a:prstGeom prst="roundRect">
            <a:avLst>
              <a:gd name="adj" fmla="val 10000"/>
            </a:avLst>
          </a:prstGeom>
          <a:solidFill>
            <a:srgbClr val="F2F3F7"/>
          </a:solidFill>
          <a:ln w="19050">
            <a:solidFill>
              <a:srgbClr val="DE7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3319" y="1508760"/>
            <a:ext cx="4943703" cy="7181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 dirty="0">
                <a:solidFill>
                  <a:srgbClr val="DE7B28"/>
                </a:solidFill>
                <a:latin typeface="Calibri"/>
              </a:rPr>
              <a:t>FDE </a:t>
            </a:r>
            <a:r>
              <a:rPr lang="sr-Latn-RS" sz="1200" b="1" i="0" dirty="0">
                <a:solidFill>
                  <a:srgbClr val="DE7B28"/>
                </a:solidFill>
                <a:latin typeface="Calibri"/>
              </a:rPr>
              <a:t>-</a:t>
            </a:r>
            <a:r>
              <a:rPr sz="1200" b="1" i="0" dirty="0">
                <a:solidFill>
                  <a:srgbClr val="DE7B28"/>
                </a:solidFill>
                <a:latin typeface="Calibri"/>
              </a:rPr>
              <a:t> FINAL DISPLACEMENT ERROR</a:t>
            </a:r>
          </a:p>
          <a:p>
            <a:pPr>
              <a:spcBef>
                <a:spcPts val="700"/>
              </a:spcBef>
            </a:pPr>
            <a:r>
              <a:rPr sz="1250" b="1" i="0" dirty="0" err="1">
                <a:solidFill>
                  <a:srgbClr val="1F2D45"/>
                </a:solidFill>
                <a:latin typeface="Calibri"/>
              </a:rPr>
              <a:t>Udaljenost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samo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 u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poslednjem</a:t>
            </a:r>
            <a:r>
              <a:rPr sz="1250" b="1" i="0" dirty="0">
                <a:solidFill>
                  <a:srgbClr val="1F2D45"/>
                </a:solidFill>
                <a:latin typeface="Calibri"/>
              </a:rPr>
              <a:t>, 12. </a:t>
            </a:r>
            <a:r>
              <a:rPr sz="1250" b="1" i="0" dirty="0" err="1">
                <a:solidFill>
                  <a:srgbClr val="1F2D45"/>
                </a:solidFill>
                <a:latin typeface="Calibri"/>
              </a:rPr>
              <a:t>koraku</a:t>
            </a:r>
            <a:endParaRPr sz="1250" b="1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700"/>
              </a:spcBef>
            </a:pPr>
            <a:r>
              <a:rPr sz="1050" b="0" i="0" dirty="0">
                <a:solidFill>
                  <a:srgbClr val="6B7485"/>
                </a:solidFill>
                <a:latin typeface="Calibri"/>
              </a:rPr>
              <a:t>meri da li je model </a:t>
            </a:r>
            <a:r>
              <a:rPr sz="1050" b="0" i="0" dirty="0" err="1">
                <a:solidFill>
                  <a:srgbClr val="6B7485"/>
                </a:solidFill>
                <a:latin typeface="Calibri"/>
              </a:rPr>
              <a:t>pogodio</a:t>
            </a:r>
            <a:r>
              <a:rPr sz="10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6B7485"/>
                </a:solidFill>
                <a:latin typeface="Calibri"/>
              </a:rPr>
              <a:t>odredište</a:t>
            </a:r>
            <a:endParaRPr sz="1050" b="0" i="0" dirty="0">
              <a:solidFill>
                <a:srgbClr val="6B7485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>
                <a:solidFill>
                  <a:srgbClr val="6B7485"/>
                </a:solidFill>
                <a:latin typeface="Calibri"/>
              </a:rPr>
              <a:t>Prosek krije kako greška raste kroz horizont predikcije: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47088" y="2999232"/>
          <a:ext cx="8497518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50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7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76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Korak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Vreme unapred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LSTM-prob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ST-GCNN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0,071 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0,079 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1,6 s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0,235 m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0,237 m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3,2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0,471 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0,476 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4,8 s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0,855 m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0,867 m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489204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5047488"/>
            <a:ext cx="10509199" cy="20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149C8B"/>
                </a:solidFill>
                <a:latin typeface="Calibri"/>
              </a:rPr>
              <a:t>Fizički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posle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0,4 s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greška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7 cm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(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praktično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savršeno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),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posle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4,8 s 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86 cm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skoro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metar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Razlika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između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dva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modela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svuda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ispod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1,2 cm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Arhitektura sistema: kompletan tok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6B7485"/>
                </a:solidFill>
                <a:latin typeface="Calibri"/>
              </a:rPr>
              <a:t>PRIPREMA PODATAKA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F2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46504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ETH-UCY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5 scena · .txt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07359" y="1901952"/>
            <a:ext cx="237744" cy="182880"/>
          </a:xfrm>
          <a:prstGeom prst="rightArrow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436543" y="1627632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9695" y="1746504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data_loader.py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sekvence 8 → 12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76975" y="1901952"/>
            <a:ext cx="237744" cy="182880"/>
          </a:xfrm>
          <a:prstGeom prst="rightArrow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06159" y="1627632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F2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9311" y="1746504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relativna pomeranja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(dx, dy)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46591" y="1901952"/>
            <a:ext cx="237744" cy="182880"/>
          </a:xfrm>
          <a:prstGeom prst="rightArrow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175775" y="1627632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48927" y="1746504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seq_start_end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granice scena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70048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 dirty="0">
                <a:solidFill>
                  <a:srgbClr val="6B7485"/>
                </a:solidFill>
                <a:latin typeface="Calibri"/>
              </a:rPr>
              <a:t>TRENING </a:t>
            </a:r>
            <a:r>
              <a:rPr lang="sr-Latn-RS" sz="1100" b="1" i="0" dirty="0">
                <a:solidFill>
                  <a:srgbClr val="6B7485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 tri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modela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paralelno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,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isti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 loader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i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isti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evaluacioni</a:t>
            </a:r>
            <a:r>
              <a:rPr sz="1100" b="1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100" b="1" i="0" dirty="0" err="1">
                <a:solidFill>
                  <a:srgbClr val="6B7485"/>
                </a:solidFill>
                <a:latin typeface="Calibri"/>
              </a:rPr>
              <a:t>modul</a:t>
            </a:r>
            <a:endParaRPr sz="1100" b="1" i="0" dirty="0">
              <a:solidFill>
                <a:srgbClr val="6B7485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66928" y="2971800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090672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LSTM baseline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L2 gubitak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36543" y="2971800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DE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09695" y="3090672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LSTM-prob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NLL · kontrola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6159" y="2971800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9311" y="3090672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Social-STGCNN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graf · NLL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75775" y="2971800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F2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48927" y="3090672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tune_optuna.py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TPE + pruning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014215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6B7485"/>
                </a:solidFill>
                <a:latin typeface="Calibri"/>
              </a:rPr>
              <a:t>EVALUACIJA I ANALIZA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315968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4434840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metrics.py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ADE / FDE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107359" y="4590288"/>
            <a:ext cx="237744" cy="182880"/>
          </a:xfrm>
          <a:prstGeom prst="rightArrow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436543" y="4315968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F2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09695" y="4434840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compare.py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results.md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976975" y="4590288"/>
            <a:ext cx="237744" cy="182880"/>
          </a:xfrm>
          <a:prstGeom prst="rightArrow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306159" y="4315968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79311" y="4434840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visualize.py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trajektorije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846591" y="4590288"/>
            <a:ext cx="237744" cy="182880"/>
          </a:xfrm>
          <a:prstGeom prst="rightArrow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175775" y="4315968"/>
            <a:ext cx="2448991" cy="731520"/>
          </a:xfrm>
          <a:prstGeom prst="roundRect">
            <a:avLst>
              <a:gd name="adj" fmla="val 10000"/>
            </a:avLst>
          </a:prstGeom>
          <a:solidFill>
            <a:srgbClr val="DE7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48927" y="4434840"/>
            <a:ext cx="23026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heatmap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8D0DC"/>
                </a:solidFill>
                <a:latin typeface="Calibri"/>
              </a:rPr>
              <a:t>gustina verovatnoće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440680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1248" y="5596128"/>
            <a:ext cx="1050919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149C8B"/>
                </a:solidFill>
                <a:latin typeface="Calibri"/>
              </a:rPr>
              <a:t>Ključno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 za </a:t>
            </a:r>
            <a:r>
              <a:rPr sz="1350" b="1" i="0" dirty="0" err="1">
                <a:solidFill>
                  <a:srgbClr val="149C8B"/>
                </a:solidFill>
                <a:latin typeface="Calibri"/>
              </a:rPr>
              <a:t>korektnost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sva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tri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modela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dele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jedan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data loader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jedan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evaluacioni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modul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nijedna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izmerena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razlika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ne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može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poticati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od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podataka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ili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od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koda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metrike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Podaci: ETH-UCY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Standardni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benchmark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5 scena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iz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ptičje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perspektive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koordinate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u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metrima</a:t>
            </a:r>
            <a:endParaRPr sz="1500" b="1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Leave-one-scene-out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trening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4 scene, test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petoj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koju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model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nikada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nije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video → meri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generalizaciju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potpuno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nov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prostor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Korišćen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standardizovani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split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isti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kao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Social-GAN) </a:t>
            </a:r>
            <a:r>
              <a:rPr lang="sr-Latn-RS" sz="1500" dirty="0">
                <a:solidFill>
                  <a:srgbClr val="1F2D45"/>
                </a:solidFill>
                <a:latin typeface="Calibri"/>
              </a:rPr>
              <a:t>-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zato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rezultati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direktno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uporedivi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objavljenim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743200"/>
          <a:ext cx="11057836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82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23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48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7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05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Scena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Karakter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Trening sekv.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Test sekv.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Test trajektorija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ETH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ulaz na univerzitet, redak saobraćaj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3.283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364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ulaz u hotel, mnogo ljudi stoji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3.118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445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1.197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UNIV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kampus, vrlo gusto (40+ ljudi)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2.719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947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24.334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ZARA1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trgovačka ulica, dvosmerni tok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2.889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705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2.356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ZARA2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trgovačka ulica, slično ZARA1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2.681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998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5.910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120640"/>
            <a:ext cx="11057839" cy="86868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276088"/>
            <a:ext cx="10509199" cy="20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>
                <a:solidFill>
                  <a:srgbClr val="DE7B28"/>
                </a:solidFill>
                <a:latin typeface="Calibri"/>
              </a:rPr>
              <a:t>HOTEL: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jedina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scena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mnogo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ljudi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stoji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umesto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da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hoda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Vratićemo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joj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se u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rezultatima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to je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jedina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scena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graf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model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pobeđuje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Tri modela i zašto baš tri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25880"/>
          <a:ext cx="11057836" cy="1682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181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13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81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96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Ideja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Vidi druge agente?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Gubitak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Parametara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Vanilla LSTM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svaki pešak = nezavisna vremenska serija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C0392B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199.106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LSTM-prob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isti LSTM, ali predviđa raspodelu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C0392B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NLL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199.493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Social-STGCNN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scena = dinamički graf, GCN + TCN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E8449"/>
                          </a:solidFill>
                          <a:latin typeface="Calibri"/>
                        </a:rPr>
                        <a:t>da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NLL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7.563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154680"/>
            <a:ext cx="10728655" cy="15465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Treći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model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nije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bio u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prvobitnom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planu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dodat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jer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poređenje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prva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dva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nije smisleno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:</a:t>
            </a: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razlikuju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se u DVE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stvari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istovremeno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lang="sr-Latn-RS" sz="1350" b="0" i="0" dirty="0">
                <a:solidFill>
                  <a:srgbClr val="6B748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arhitekturi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6B7485"/>
                </a:solidFill>
                <a:latin typeface="Calibri"/>
              </a:rPr>
              <a:t>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funkciji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gubitka</a:t>
            </a:r>
            <a:endParaRPr sz="1350" b="0" i="0" dirty="0">
              <a:solidFill>
                <a:srgbClr val="6B748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model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treniran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NLL-om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ima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srednju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vrednost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koja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nije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optimizovana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za ADE</a:t>
            </a: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best-of-20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naspram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jedne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predikcije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poredi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20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pokušaja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1</a:t>
            </a: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LSTM-prob =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isti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LSTM +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identična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Gausova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glava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gubitak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kriterijum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protokol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149C8B"/>
                </a:solidFill>
                <a:latin typeface="Calibri"/>
              </a:rPr>
              <a:t>Tek tada </a:t>
            </a:r>
            <a:r>
              <a:rPr sz="1350" b="0" i="0">
                <a:solidFill>
                  <a:srgbClr val="1F2D45"/>
                </a:solidFill>
                <a:latin typeface="Calibri"/>
              </a:rPr>
              <a:t>modeli se razlikuju u </a:t>
            </a:r>
            <a:r>
              <a:rPr sz="1350" b="1" i="0">
                <a:solidFill>
                  <a:srgbClr val="1F2D45"/>
                </a:solidFill>
                <a:latin typeface="Calibri"/>
              </a:rPr>
              <a:t>tačno jednoj stvari</a:t>
            </a:r>
            <a:r>
              <a:rPr sz="1350" b="0" i="0">
                <a:solidFill>
                  <a:srgbClr val="1F2D45"/>
                </a:solidFill>
                <a:latin typeface="Calibri"/>
              </a:rPr>
              <a:t>: da li arhitektura vidi druge pešake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Blok-dijagonalno pakovanje grafova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15465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Naivna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implementacija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obrađuje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jednu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scenu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po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koraku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3.283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sitna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GPU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poziva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po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epohi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profilisano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: 0,2 s loader + 9,0 s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matrice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susedstva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+ 34,1 s forward/backward ≈ 62 s/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epoha</a:t>
            </a:r>
            <a:endParaRPr sz="1350" b="0" i="0" dirty="0">
              <a:solidFill>
                <a:srgbClr val="6B748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~13 sati za 5 scena</a:t>
            </a: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Rešenje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više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scena u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jednu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blok-dijagonalnu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matricu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susedstva</a:t>
            </a:r>
            <a:endParaRPr sz="1500" b="1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pešaci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iz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različitih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scena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nemaju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granu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propagacija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kroz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graf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je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identična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,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ali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je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sve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jedan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GPU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poziv</a:t>
            </a:r>
            <a:endParaRPr sz="1350" b="0" i="0" dirty="0">
              <a:solidFill>
                <a:srgbClr val="6B7485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395728" y="3703320"/>
          <a:ext cx="7400237" cy="1152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739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8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87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87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Posle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Dobitak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Po </a:t>
                      </a:r>
                      <a:r>
                        <a:rPr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epohi</a:t>
                      </a:r>
                      <a:endParaRPr sz="1250" b="0" i="0" dirty="0">
                        <a:solidFill>
                          <a:srgbClr val="1F2D45"/>
                        </a:solidFill>
                        <a:latin typeface="Calibri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2,6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24×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Svih 5 scena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~13 h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~15 min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24×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512064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276088"/>
            <a:ext cx="1050919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DE7B28"/>
                </a:solidFill>
                <a:latin typeface="Calibri"/>
              </a:rPr>
              <a:t>Poštena</a:t>
            </a:r>
            <a:r>
              <a:rPr sz="1350" b="1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DE7B28"/>
                </a:solidFill>
                <a:latin typeface="Calibri"/>
              </a:rPr>
              <a:t>napomena</a:t>
            </a:r>
            <a:r>
              <a:rPr sz="1350" b="1" i="0" dirty="0">
                <a:solidFill>
                  <a:srgbClr val="DE7B28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propagacija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kroz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graf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jeste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identična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ali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BatchNorm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sada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računa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statistike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preko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celog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batch-a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umesto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preko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jedne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scene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standardno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ponašanje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mini-batch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treninga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ali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nije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bit-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identičan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račun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Optuna: automatska kalibracija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28655" cy="8079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TPE sampler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Bajesovska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optimizacija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)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gradi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verovatnosni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model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hiperparamet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ara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→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validacioni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ADE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bira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očekivano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poboljšanje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najveće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MedianPruner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prekida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trial koji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zaostaje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za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medijanom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→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velika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ušteda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vremena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423160"/>
          <a:ext cx="1105783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3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24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24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3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728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Pretraga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Trial-ova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Prekinuto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Najbolji val ADE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Najbolja konfiguracija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LSTM (zara1)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0,4283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hidden=256, </a:t>
                      </a:r>
                      <a:r>
                        <a:rPr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lr</a:t>
                      </a:r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=0,0032, </a:t>
                      </a:r>
                      <a:r>
                        <a:rPr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slojeva</a:t>
                      </a:r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=1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ST-GCNN (zara1)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0,3894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n_stgcnn</a:t>
                      </a:r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=2, </a:t>
                      </a:r>
                      <a:r>
                        <a:rPr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n_txpcnn</a:t>
                      </a:r>
                      <a:r>
                        <a:rPr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=7, kernel=5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794760"/>
            <a:ext cx="10728655" cy="5770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Pretraga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nije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birala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više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graf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slojeva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nego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dublju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vremensku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obradu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nezavisan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signal koji ide u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prilog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glavnom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nalazu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Finalni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trening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sa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nađenim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parametrima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val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ADE 0,381 → 0,374,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ali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test </a:t>
            </a:r>
            <a:r>
              <a:rPr sz="1500" b="1" i="0" dirty="0" err="1">
                <a:solidFill>
                  <a:srgbClr val="DE7B28"/>
                </a:solidFill>
                <a:latin typeface="Calibri"/>
              </a:rPr>
              <a:t>nepromenjen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(0,283) </a:t>
            </a:r>
            <a:r>
              <a:rPr lang="sr-Latn-RS" sz="1500" b="0" i="0" dirty="0">
                <a:solidFill>
                  <a:srgbClr val="DE7B28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dobitak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je bio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unutar</a:t>
            </a:r>
            <a:r>
              <a:rPr sz="1500" b="0" i="0" dirty="0">
                <a:solidFill>
                  <a:srgbClr val="DE7B28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DE7B28"/>
                </a:solidFill>
                <a:latin typeface="Calibri"/>
              </a:rPr>
              <a:t>šuma</a:t>
            </a:r>
            <a:endParaRPr sz="1500" b="0" i="0" dirty="0">
              <a:solidFill>
                <a:srgbClr val="DE7B28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66928" y="5212080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5367528"/>
            <a:ext cx="10509199" cy="20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149C8B"/>
                </a:solidFill>
                <a:latin typeface="Calibri"/>
              </a:rPr>
              <a:t>Metodološko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49C8B"/>
                </a:solidFill>
                <a:latin typeface="Calibri"/>
              </a:rPr>
              <a:t>pravilo</a:t>
            </a:r>
            <a:r>
              <a:rPr sz="1350" b="1" i="0" dirty="0">
                <a:solidFill>
                  <a:srgbClr val="149C8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optimizuje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se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validacioni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ADE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biranje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hiperparametara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po test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skupu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je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curenje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informacija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koje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tiho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naduvava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rezultat</a:t>
            </a:r>
            <a:endParaRPr sz="1350" b="0" i="0" dirty="0">
              <a:solidFill>
                <a:srgbClr val="1F2D4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Rezultati 1: poređenje kakvo se obično radi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64208" y="1325880"/>
          <a:ext cx="8863278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4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5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51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Scena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LSTM ADE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LSTM FDE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ST-GCNN ADE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ST-GCNN FDE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ETH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1,007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1,996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1,043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2,113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0,457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0,936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0,436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0,880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UNIV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0,577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1,278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0,568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1,202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ZARA1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0,402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0,886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0,419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0,904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ZARA2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0,316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0,699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0,350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PROSEK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0,552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1,159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0,563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1,172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77639"/>
            <a:ext cx="10728655" cy="12234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Deterministički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graf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model je u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proseku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čak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neznatno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lošiji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(0,563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naspram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0,552 m)</a:t>
            </a: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Ali </a:t>
            </a:r>
            <a:r>
              <a:rPr sz="1500" b="0" i="0" dirty="0" err="1">
                <a:solidFill>
                  <a:srgbClr val="C0392B"/>
                </a:solidFill>
                <a:latin typeface="Calibri"/>
              </a:rPr>
              <a:t>ovo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C0392B"/>
                </a:solidFill>
                <a:latin typeface="Calibri"/>
              </a:rPr>
              <a:t>poređenje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 je </a:t>
            </a:r>
            <a:r>
              <a:rPr lang="sr-Latn-RS" sz="1500" b="1" i="0" dirty="0">
                <a:solidFill>
                  <a:srgbClr val="C0392B"/>
                </a:solidFill>
                <a:latin typeface="Calibri"/>
              </a:rPr>
              <a:t>besmisleno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 </a:t>
            </a:r>
            <a:r>
              <a:rPr lang="sr-Latn-RS" sz="1500" dirty="0">
                <a:solidFill>
                  <a:srgbClr val="C0392B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 LSTM je </a:t>
            </a:r>
            <a:r>
              <a:rPr sz="1500" b="0" i="0" dirty="0" err="1">
                <a:solidFill>
                  <a:srgbClr val="C0392B"/>
                </a:solidFill>
                <a:latin typeface="Calibri"/>
              </a:rPr>
              <a:t>treniran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 L2 </a:t>
            </a:r>
            <a:r>
              <a:rPr sz="1500" b="0" i="0" dirty="0" err="1">
                <a:solidFill>
                  <a:srgbClr val="C0392B"/>
                </a:solidFill>
                <a:latin typeface="Calibri"/>
              </a:rPr>
              <a:t>kriterijumom</a:t>
            </a:r>
            <a:r>
              <a:rPr sz="1500" b="0" i="0" dirty="0">
                <a:solidFill>
                  <a:srgbClr val="C0392B"/>
                </a:solidFill>
                <a:latin typeface="Calibri"/>
              </a:rPr>
              <a:t>, ST-GCNN NLL-om</a:t>
            </a: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srednja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vrednost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NLL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modela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nije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optimizovana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da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minimizuje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L2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grešku</a:t>
            </a:r>
            <a:endParaRPr sz="1350" b="0" i="0" dirty="0">
              <a:solidFill>
                <a:srgbClr val="6B748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350" b="0" i="0" dirty="0">
                <a:solidFill>
                  <a:srgbClr val="6B7485"/>
                </a:solidFill>
                <a:latin typeface="Calibri"/>
              </a:rPr>
              <a:t>     • 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razlika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meri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i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promenu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funkcije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gubitka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, ne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samo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doprinos</a:t>
            </a:r>
            <a:r>
              <a:rPr sz="13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6B7485"/>
                </a:solidFill>
                <a:latin typeface="Calibri"/>
              </a:rPr>
              <a:t>grafa</a:t>
            </a:r>
            <a:endParaRPr sz="1350" b="0" i="0" dirty="0">
              <a:solidFill>
                <a:srgbClr val="6B7485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66928" y="5623560"/>
            <a:ext cx="11057839" cy="73152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>
                <a:solidFill>
                  <a:srgbClr val="DE7B28"/>
                </a:solidFill>
                <a:latin typeface="Calibri"/>
              </a:rPr>
              <a:t>Zaključak: </a:t>
            </a:r>
            <a:r>
              <a:rPr sz="1350" b="0" i="0">
                <a:solidFill>
                  <a:srgbClr val="1F2D45"/>
                </a:solidFill>
                <a:latin typeface="Calibri"/>
              </a:rPr>
              <a:t>iz ove tabele se </a:t>
            </a:r>
            <a:r>
              <a:rPr sz="1350" b="1" i="0">
                <a:solidFill>
                  <a:srgbClr val="1F2D45"/>
                </a:solidFill>
                <a:latin typeface="Calibri"/>
              </a:rPr>
              <a:t>ne sme</a:t>
            </a:r>
            <a:r>
              <a:rPr sz="1350" b="0" i="0">
                <a:solidFill>
                  <a:srgbClr val="1F2D45"/>
                </a:solidFill>
                <a:latin typeface="Calibri"/>
              </a:rPr>
              <a:t> izvesti zaključak o socijalnom modelovanju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Rezultati 2: kontrolisano poređenje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16152"/>
            <a:ext cx="11057839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i="1" dirty="0" err="1">
                <a:solidFill>
                  <a:srgbClr val="6B7485"/>
                </a:solidFill>
                <a:latin typeface="Calibri"/>
              </a:rPr>
              <a:t>Identična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Gausova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glava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·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identičan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NLL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gubitak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·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identičan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best-of-20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protokol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· oba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modela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250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epoha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</a:t>
            </a:r>
            <a:r>
              <a:rPr lang="sr-Latn-RS" sz="1300" b="0" i="1" dirty="0">
                <a:solidFill>
                  <a:srgbClr val="6B7485"/>
                </a:solidFill>
                <a:latin typeface="Calibri"/>
              </a:rPr>
              <a:t>-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razlikuje</a:t>
            </a:r>
            <a:r>
              <a:rPr sz="1300" b="0" i="1" dirty="0">
                <a:solidFill>
                  <a:srgbClr val="6B7485"/>
                </a:solidFill>
                <a:latin typeface="Calibri"/>
              </a:rPr>
              <a:t> se SAMO </a:t>
            </a:r>
            <a:r>
              <a:rPr sz="1300" b="0" i="1" dirty="0" err="1">
                <a:solidFill>
                  <a:srgbClr val="6B7485"/>
                </a:solidFill>
                <a:latin typeface="Calibri"/>
              </a:rPr>
              <a:t>arhitektura</a:t>
            </a:r>
            <a:endParaRPr sz="1300" b="0" i="1" dirty="0">
              <a:solidFill>
                <a:srgbClr val="6B7485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32688" y="1572768"/>
          <a:ext cx="10326316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85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3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3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70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Scena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LSTM-prob ADE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LSTM-prob FDE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ST-GCNN ADE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ST-GCNN FDE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Bolji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ETH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0,775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1,405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0,819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1,582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LSTM-prob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0,342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0,659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0,311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0,561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DE7B28"/>
                          </a:solidFill>
                          <a:latin typeface="Calibri"/>
                        </a:rPr>
                        <a:t>ST-GCNN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UNIV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0,411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0,816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0,803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LSTM-prob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ZARA1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0,276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0,497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0,283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0,498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LSTM-prob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ZARA2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0,221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0,428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0,251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0,474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LSTM-prob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PROSEK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0,405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0,761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0,415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0,784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F2D45"/>
                          </a:solidFill>
                          <a:latin typeface="Calibri"/>
                        </a:rPr>
                        <a:t>4 : 1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224528"/>
            <a:ext cx="10728655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Model koji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uopšte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ne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vidi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druge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 err="1">
                <a:solidFill>
                  <a:srgbClr val="1F2D45"/>
                </a:solidFill>
                <a:latin typeface="Calibri"/>
              </a:rPr>
              <a:t>agente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pobeđuje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4 od 5 scena</a:t>
            </a: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ST-GCNN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pobeđuje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samo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1F2D45"/>
                </a:solidFill>
                <a:latin typeface="Calibri"/>
              </a:rPr>
              <a:t>HOTEL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jedinoj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sceni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gde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mnogo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ljudi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stoji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, pa je „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nastavi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pravo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“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najslabija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heuristika</a:t>
            </a:r>
            <a:endParaRPr sz="150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50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Nije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greška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implementacije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50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oba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modela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reprodukuju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objavljene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rezultate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(ST-GCNN 0,415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naspram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D45"/>
                </a:solidFill>
                <a:latin typeface="Calibri"/>
              </a:rPr>
              <a:t>objavljenih</a:t>
            </a:r>
            <a:r>
              <a:rPr sz="1500" b="0" i="0" dirty="0">
                <a:solidFill>
                  <a:srgbClr val="1F2D45"/>
                </a:solidFill>
                <a:latin typeface="Calibri"/>
              </a:rPr>
              <a:t> 0,44)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669280"/>
            <a:ext cx="11057839" cy="731520"/>
          </a:xfrm>
          <a:prstGeom prst="roundRect">
            <a:avLst>
              <a:gd name="adj" fmla="val 6000"/>
            </a:avLst>
          </a:prstGeom>
          <a:solidFill>
            <a:srgbClr val="F2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5824728"/>
            <a:ext cx="10509199" cy="20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50" b="1" i="0" dirty="0" err="1">
                <a:solidFill>
                  <a:srgbClr val="C0392B"/>
                </a:solidFill>
                <a:latin typeface="Calibri"/>
              </a:rPr>
              <a:t>Nalaz</a:t>
            </a:r>
            <a:r>
              <a:rPr sz="1350" b="1" i="0" dirty="0">
                <a:solidFill>
                  <a:srgbClr val="C0392B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na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ETH-UCY,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pri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horizontu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od 4,8 s,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graf-bazirano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modelovanje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interakcija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ne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donosi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prosečnu</a:t>
            </a:r>
            <a:r>
              <a:rPr sz="13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1F2D45"/>
                </a:solidFill>
                <a:latin typeface="Calibri"/>
              </a:rPr>
              <a:t>prednost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3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saglasno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sa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Schöller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1F2D45"/>
                </a:solidFill>
                <a:latin typeface="Calibri"/>
              </a:rPr>
              <a:t>sar</a:t>
            </a:r>
            <a:r>
              <a:rPr sz="1350" b="0" i="0" dirty="0">
                <a:solidFill>
                  <a:srgbClr val="1F2D45"/>
                </a:solidFill>
                <a:latin typeface="Calibri"/>
              </a:rPr>
              <a:t>. (2020)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 i="0">
                <a:solidFill>
                  <a:srgbClr val="149C8B"/>
                </a:solidFill>
                <a:latin typeface="Calibri"/>
              </a:rPr>
              <a:t>PRAKTIČNI 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Kvalitativna analiza</a:t>
            </a:r>
          </a:p>
        </p:txBody>
      </p:sp>
      <p:pic>
        <p:nvPicPr>
          <p:cNvPr id="5" name="Picture 4" descr="trajectories_zara1_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325880"/>
            <a:ext cx="3534508" cy="3063240"/>
          </a:xfrm>
          <a:prstGeom prst="rect">
            <a:avLst/>
          </a:prstGeom>
        </p:spPr>
      </p:pic>
      <p:pic>
        <p:nvPicPr>
          <p:cNvPr id="6" name="Picture 5" descr="heatmap_zara1_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87" y="1325880"/>
            <a:ext cx="3534508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709160"/>
            <a:ext cx="10728655" cy="900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Levo: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predikcije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oba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modela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naspram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stvarne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putanje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lang="sr-Latn-RS" sz="1450" b="0" i="0" dirty="0">
                <a:solidFill>
                  <a:srgbClr val="1F2D45"/>
                </a:solidFill>
                <a:latin typeface="Calibri"/>
              </a:rPr>
              <a:t>-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međusobno</a:t>
            </a:r>
            <a:r>
              <a:rPr sz="14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gotovo</a:t>
            </a:r>
            <a:r>
              <a:rPr sz="14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nerazlučive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,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vizuelni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pandan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tabeli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sa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prethodnog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slajda</a:t>
            </a:r>
            <a:endParaRPr sz="14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4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Desno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: 2.000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uzoraka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iz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naučene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raspodele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→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gustina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se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širi</a:t>
            </a:r>
            <a:r>
              <a:rPr sz="14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sa</a:t>
            </a:r>
            <a:r>
              <a:rPr sz="14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horizontom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i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razdvaja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po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smeru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kretanja</a:t>
            </a:r>
            <a:endParaRPr sz="1450" b="0" i="0" dirty="0">
              <a:solidFill>
                <a:srgbClr val="1F2D4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4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To polje je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direktno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upotrebljivo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kao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mapa</a:t>
            </a:r>
            <a:r>
              <a:rPr sz="1450" b="1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1" i="0" dirty="0" err="1">
                <a:solidFill>
                  <a:srgbClr val="1F2D45"/>
                </a:solidFill>
                <a:latin typeface="Calibri"/>
              </a:rPr>
              <a:t>cene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za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socijalno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1F2D45"/>
                </a:solidFill>
                <a:latin typeface="Calibri"/>
              </a:rPr>
              <a:t>svestan</a:t>
            </a:r>
            <a:r>
              <a:rPr sz="1450" b="0" i="0" dirty="0">
                <a:solidFill>
                  <a:srgbClr val="1F2D45"/>
                </a:solidFill>
                <a:latin typeface="Calibri"/>
              </a:rPr>
              <a:t> planer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49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100" b="1" i="0">
                <a:solidFill>
                  <a:srgbClr val="1F2D45"/>
                </a:solidFill>
                <a:latin typeface="Calibri"/>
              </a:rPr>
              <a:t>Zaključak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673458"/>
              </p:ext>
            </p:extLst>
          </p:nvPr>
        </p:nvGraphicFramePr>
        <p:xfrm>
          <a:off x="566928" y="1234440"/>
          <a:ext cx="10010882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2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8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Pitanje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Odgovor iz eksperimenta</a:t>
                      </a:r>
                    </a:p>
                  </a:txBody>
                  <a:tcPr marL="73152" marR="73152" anchor="ctr">
                    <a:solidFill>
                      <a:srgbClr val="1F2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Da li graf modelovanje interakcija pomaže?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C0392B"/>
                          </a:solidFill>
                          <a:latin typeface="Calibri"/>
                        </a:rPr>
                        <a:t>ne donosi prosečnu prednost (0,415 vs 0,405 m ADE)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Šta onda jeste pomoglo?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149C8B"/>
                          </a:solidFill>
                          <a:latin typeface="Calibri"/>
                        </a:rPr>
                        <a:t>modelovanje neizvesnosti: 0,552 → 0,405 m ADE (−27 %)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D45"/>
                          </a:solidFill>
                          <a:latin typeface="Calibri"/>
                        </a:rPr>
                        <a:t>Ima li graf ikakvu prednost?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da </a:t>
                      </a:r>
                      <a:r>
                        <a:rPr lang="sr-Latn-RS"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-</a:t>
                      </a:r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149C8B"/>
                          </a:solidFill>
                          <a:latin typeface="Calibri"/>
                        </a:rPr>
                        <a:t>ista</a:t>
                      </a:r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149C8B"/>
                          </a:solidFill>
                          <a:latin typeface="Calibri"/>
                        </a:rPr>
                        <a:t>tačnost</a:t>
                      </a:r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149C8B"/>
                          </a:solidFill>
                          <a:latin typeface="Calibri"/>
                        </a:rPr>
                        <a:t>uz</a:t>
                      </a:r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 26× </a:t>
                      </a:r>
                      <a:r>
                        <a:rPr sz="1250" b="1" i="0" dirty="0" err="1">
                          <a:solidFill>
                            <a:srgbClr val="149C8B"/>
                          </a:solidFill>
                          <a:latin typeface="Calibri"/>
                        </a:rPr>
                        <a:t>manje</a:t>
                      </a:r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149C8B"/>
                          </a:solidFill>
                          <a:latin typeface="Calibri"/>
                        </a:rPr>
                        <a:t>parametara</a:t>
                      </a:r>
                      <a:r>
                        <a:rPr sz="1250" b="1" i="0" dirty="0">
                          <a:solidFill>
                            <a:srgbClr val="149C8B"/>
                          </a:solidFill>
                          <a:latin typeface="Calibri"/>
                        </a:rPr>
                        <a:t> (7.563 vs 199.106)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Zašto</a:t>
                      </a:r>
                      <a:r>
                        <a:rPr lang="en-US"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 se to </a:t>
                      </a:r>
                      <a:r>
                        <a:rPr lang="en-US"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ranije</a:t>
                      </a:r>
                      <a:r>
                        <a:rPr lang="en-US"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 </a:t>
                      </a:r>
                      <a:r>
                        <a:rPr lang="en-US"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nije</a:t>
                      </a:r>
                      <a:r>
                        <a:rPr lang="en-US"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 </a:t>
                      </a:r>
                      <a:r>
                        <a:rPr lang="en-US" sz="1250" b="0" i="0" dirty="0" err="1">
                          <a:solidFill>
                            <a:srgbClr val="1F2D45"/>
                          </a:solidFill>
                          <a:latin typeface="Calibri"/>
                        </a:rPr>
                        <a:t>videlo</a:t>
                      </a:r>
                      <a:r>
                        <a:rPr lang="en-US"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1250" b="0" i="0" dirty="0">
                          <a:solidFill>
                            <a:srgbClr val="1F2D45"/>
                          </a:solidFill>
                          <a:latin typeface="Calibri"/>
                        </a:rPr>
                        <a:t>poređenje determinističkog i probabilističkog modela (jedna putanja vs. Best-of-20)</a:t>
                      </a:r>
                      <a:endParaRPr lang="en-US" sz="1250" b="0" i="0" dirty="0">
                        <a:solidFill>
                          <a:srgbClr val="1F2D45"/>
                        </a:solidFill>
                        <a:latin typeface="Calibri"/>
                      </a:endParaRPr>
                    </a:p>
                  </a:txBody>
                  <a:tcPr marL="73152" marR="7315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91840"/>
            <a:ext cx="10728655" cy="5616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</a:pPr>
            <a:r>
              <a:rPr sz="14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450" b="1" i="0" dirty="0" err="1">
                <a:solidFill>
                  <a:srgbClr val="6B7485"/>
                </a:solidFill>
                <a:latin typeface="Calibri"/>
              </a:rPr>
              <a:t>Ograničenja</a:t>
            </a:r>
            <a:r>
              <a:rPr sz="1450" b="1" i="0" dirty="0">
                <a:solidFill>
                  <a:srgbClr val="6B7485"/>
                </a:solidFill>
                <a:latin typeface="Calibri"/>
              </a:rPr>
              <a:t>: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nema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mape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prostora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·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pretpostavlja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savršenu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detekciju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· best-of-20 je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optimističan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· planer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nije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implementiran</a:t>
            </a:r>
            <a:endParaRPr sz="1450" b="0" i="0" dirty="0">
              <a:solidFill>
                <a:srgbClr val="6B7485"/>
              </a:solidFill>
              <a:latin typeface="Calibri"/>
            </a:endParaRPr>
          </a:p>
          <a:p>
            <a:pPr>
              <a:spcBef>
                <a:spcPts val="900"/>
              </a:spcBef>
            </a:pPr>
            <a:r>
              <a:rPr sz="1450" b="1" i="0" dirty="0">
                <a:solidFill>
                  <a:srgbClr val="149C8B"/>
                </a:solidFill>
                <a:latin typeface="Calibri"/>
              </a:rPr>
              <a:t>▸ </a:t>
            </a:r>
            <a:r>
              <a:rPr sz="1450" b="1" i="0" dirty="0" err="1">
                <a:solidFill>
                  <a:srgbClr val="6B7485"/>
                </a:solidFill>
                <a:latin typeface="Calibri"/>
              </a:rPr>
              <a:t>Dalji</a:t>
            </a:r>
            <a:r>
              <a:rPr sz="1450" b="1" i="0" dirty="0">
                <a:solidFill>
                  <a:srgbClr val="6B7485"/>
                </a:solidFill>
                <a:latin typeface="Calibri"/>
              </a:rPr>
              <a:t> rad: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duži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horizont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(8</a:t>
            </a:r>
            <a:r>
              <a:rPr lang="sr-Latn-RS" sz="1450" b="0" i="0" dirty="0">
                <a:solidFill>
                  <a:srgbClr val="6B7485"/>
                </a:solidFill>
                <a:latin typeface="Calibri"/>
              </a:rPr>
              <a:t>-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10 s)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kao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direktan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test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hipoteze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o </a:t>
            </a:r>
            <a:r>
              <a:rPr sz="1450" b="0" i="0" dirty="0" err="1">
                <a:solidFill>
                  <a:srgbClr val="6B7485"/>
                </a:solidFill>
                <a:latin typeface="Calibri"/>
              </a:rPr>
              <a:t>inerciji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· </a:t>
            </a:r>
            <a:r>
              <a:rPr lang="en-US" sz="1450" dirty="0" err="1">
                <a:solidFill>
                  <a:srgbClr val="6B7485"/>
                </a:solidFill>
              </a:rPr>
              <a:t>integracija</a:t>
            </a:r>
            <a:r>
              <a:rPr lang="en-US" sz="1450" dirty="0">
                <a:solidFill>
                  <a:srgbClr val="6B7485"/>
                </a:solidFill>
              </a:rPr>
              <a:t> </a:t>
            </a:r>
            <a:r>
              <a:rPr lang="en-US" sz="1450" dirty="0" err="1">
                <a:solidFill>
                  <a:srgbClr val="6B7485"/>
                </a:solidFill>
              </a:rPr>
              <a:t>sa</a:t>
            </a:r>
            <a:r>
              <a:rPr lang="en-US" sz="1450" dirty="0">
                <a:solidFill>
                  <a:srgbClr val="6B7485"/>
                </a:solidFill>
              </a:rPr>
              <a:t> </a:t>
            </a:r>
            <a:r>
              <a:rPr lang="en-US" sz="1450" dirty="0" err="1">
                <a:solidFill>
                  <a:srgbClr val="6B7485"/>
                </a:solidFill>
              </a:rPr>
              <a:t>planerom</a:t>
            </a:r>
            <a:r>
              <a:rPr sz="1450" b="0" i="0" dirty="0">
                <a:solidFill>
                  <a:srgbClr val="6B7485"/>
                </a:solidFill>
                <a:latin typeface="Calibri"/>
              </a:rPr>
              <a:t>  · </a:t>
            </a:r>
            <a:r>
              <a:rPr lang="sr-Latn-RS" sz="1450" b="0" i="0" dirty="0">
                <a:solidFill>
                  <a:srgbClr val="6B7485"/>
                </a:solidFill>
                <a:latin typeface="Calibri"/>
              </a:rPr>
              <a:t>vizuelizacije u simulacionom okruženju</a:t>
            </a:r>
            <a:endParaRPr sz="1450" b="0" i="0" dirty="0">
              <a:solidFill>
                <a:srgbClr val="6B7485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080760"/>
            <a:ext cx="12191695" cy="777240"/>
          </a:xfrm>
          <a:prstGeom prst="rect">
            <a:avLst/>
          </a:prstGeom>
          <a:solidFill>
            <a:srgbClr val="1F2D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0" y="6291072"/>
            <a:ext cx="1219169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Hvala </a:t>
            </a:r>
            <a:r>
              <a:rPr sz="1800" b="1" i="0" dirty="0" err="1">
                <a:solidFill>
                  <a:srgbClr val="FFFFFF"/>
                </a:solidFill>
                <a:latin typeface="Calibri"/>
              </a:rPr>
              <a:t>na</a:t>
            </a:r>
            <a:r>
              <a:rPr sz="18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FFFFFF"/>
                </a:solidFill>
                <a:latin typeface="Calibri"/>
              </a:rPr>
              <a:t>pažnji</a:t>
            </a:r>
            <a:r>
              <a:rPr sz="18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sr-Latn-RS" sz="18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8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FFFFFF"/>
                </a:solidFill>
                <a:latin typeface="Calibri"/>
              </a:rPr>
              <a:t>pitanja</a:t>
            </a:r>
            <a:r>
              <a:rPr sz="1800" b="1" i="0" dirty="0">
                <a:solidFill>
                  <a:srgbClr val="FFFFFF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2059</Words>
  <Application>Microsoft Office PowerPoint</Application>
  <PresentationFormat>Widescreen</PresentationFormat>
  <Paragraphs>330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Sara Babic</cp:lastModifiedBy>
  <cp:revision>5</cp:revision>
  <dcterms:created xsi:type="dcterms:W3CDTF">2013-01-27T09:14:16Z</dcterms:created>
  <dcterms:modified xsi:type="dcterms:W3CDTF">2026-08-27T08:03:46Z</dcterms:modified>
  <cp:category/>
</cp:coreProperties>
</file>