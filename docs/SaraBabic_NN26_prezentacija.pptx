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9C8B"/>
                </a:solidFill>
                <a:latin typeface="Calibri"/>
              </a:rPr>
              <a:t>PROJEKAT IZ NEURONSKIH MREŽA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10512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Predikcija socijalno prihvatljivih trajektorija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01568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i="0">
                <a:solidFill>
                  <a:srgbClr val="C8D0DC"/>
                </a:solidFill>
                <a:latin typeface="Calibri"/>
              </a:rPr>
              <a:t>Da li modelovanje socijalnih interakcija zaista pomaže?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2452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0" i="0">
                <a:solidFill>
                  <a:srgbClr val="C8D0DC"/>
                </a:solidFill>
                <a:latin typeface="Calibri"/>
              </a:rPr>
              <a:t>ETH-UCY · LSTM baseline · Social-STGCNN · kontrolisani eksperiment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3036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Sara Babić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C8D0DC"/>
                </a:solidFill>
                <a:latin typeface="Calibri"/>
              </a:rPr>
              <a:t>Avgust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 i="0">
                <a:solidFill>
                  <a:srgbClr val="1F2D45"/>
                </a:solidFill>
                <a:latin typeface="Calibri"/>
              </a:rPr>
              <a:t>Pregled izlaganja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60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600" b="1" i="0">
                <a:solidFill>
                  <a:srgbClr val="1F2D45"/>
                </a:solidFill>
                <a:latin typeface="Calibri"/>
              </a:rPr>
              <a:t>1 · Teorijski deo</a:t>
            </a:r>
            <a:r>
              <a:rPr sz="1600" b="0" i="0">
                <a:solidFill>
                  <a:srgbClr val="1F2D45"/>
                </a:solidFill>
                <a:latin typeface="Calibri"/>
              </a:rPr>
              <a:t>  (~5 min)</a:t>
            </a:r>
          </a:p>
          <a:p>
            <a:pPr>
              <a:spcBef>
                <a:spcPts val="900"/>
              </a:spcBef>
            </a:pPr>
            <a:r>
              <a:rPr sz="1450" b="0" i="0">
                <a:solidFill>
                  <a:srgbClr val="6B7485"/>
                </a:solidFill>
                <a:latin typeface="Calibri"/>
              </a:rPr>
              <a:t>     •  </a:t>
            </a:r>
            <a:r>
              <a:rPr sz="1450" b="0" i="0">
                <a:solidFill>
                  <a:srgbClr val="6B7485"/>
                </a:solidFill>
                <a:latin typeface="Calibri"/>
              </a:rPr>
              <a:t>Zašto robotu treba predikcija trajektorija · LSTM i rekurentne mreže</a:t>
            </a:r>
          </a:p>
          <a:p>
            <a:pPr>
              <a:spcBef>
                <a:spcPts val="900"/>
              </a:spcBef>
            </a:pPr>
            <a:r>
              <a:rPr sz="1450" b="0" i="0">
                <a:solidFill>
                  <a:srgbClr val="6B7485"/>
                </a:solidFill>
                <a:latin typeface="Calibri"/>
              </a:rPr>
              <a:t>     •  </a:t>
            </a:r>
            <a:r>
              <a:rPr sz="1450" b="0" i="0">
                <a:solidFill>
                  <a:srgbClr val="6B7485"/>
                </a:solidFill>
                <a:latin typeface="Calibri"/>
              </a:rPr>
              <a:t>Scena kao graf (ST-GCNN) · zašto raspodela umesto tačke · metrike i protokol</a:t>
            </a:r>
          </a:p>
          <a:p>
            <a:pPr>
              <a:spcBef>
                <a:spcPts val="900"/>
              </a:spcBef>
            </a:pPr>
            <a:r>
              <a:rPr sz="160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600" b="1" i="0">
                <a:solidFill>
                  <a:srgbClr val="1F2D45"/>
                </a:solidFill>
                <a:latin typeface="Calibri"/>
              </a:rPr>
              <a:t>2 · Praktični deo</a:t>
            </a:r>
            <a:r>
              <a:rPr sz="1600" b="0" i="0">
                <a:solidFill>
                  <a:srgbClr val="1F2D45"/>
                </a:solidFill>
                <a:latin typeface="Calibri"/>
              </a:rPr>
              <a:t>  (~8 min)</a:t>
            </a:r>
          </a:p>
          <a:p>
            <a:pPr>
              <a:spcBef>
                <a:spcPts val="900"/>
              </a:spcBef>
            </a:pPr>
            <a:r>
              <a:rPr sz="1450" b="0" i="0">
                <a:solidFill>
                  <a:srgbClr val="6B7485"/>
                </a:solidFill>
                <a:latin typeface="Calibri"/>
              </a:rPr>
              <a:t>     •  </a:t>
            </a:r>
            <a:r>
              <a:rPr sz="1450" b="0" i="0">
                <a:solidFill>
                  <a:srgbClr val="6B7485"/>
                </a:solidFill>
                <a:latin typeface="Calibri"/>
              </a:rPr>
              <a:t>Kompletan tok: podaci → tri modela → evaluacija → kvalitativna analiza</a:t>
            </a:r>
          </a:p>
          <a:p>
            <a:pPr>
              <a:spcBef>
                <a:spcPts val="900"/>
              </a:spcBef>
            </a:pPr>
            <a:r>
              <a:rPr sz="1450" b="0" i="0">
                <a:solidFill>
                  <a:srgbClr val="6B7485"/>
                </a:solidFill>
                <a:latin typeface="Calibri"/>
              </a:rPr>
              <a:t>     •  </a:t>
            </a:r>
            <a:r>
              <a:rPr sz="1450" b="0" i="0">
                <a:solidFill>
                  <a:srgbClr val="6B7485"/>
                </a:solidFill>
                <a:latin typeface="Calibri"/>
              </a:rPr>
              <a:t>Blok-dijagonalna optimizacija treninga i Optuna kalibracija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297680"/>
            <a:ext cx="11057839" cy="1143000"/>
          </a:xfrm>
          <a:prstGeom prst="roundRect">
            <a:avLst>
              <a:gd name="adj" fmla="val 6000"/>
            </a:avLst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453128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49C8B"/>
                </a:solidFill>
                <a:latin typeface="Calibri"/>
              </a:rPr>
              <a:t>Ključni rezultat: 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kada se kontroliše funkcija gubitka, graf model </a:t>
            </a:r>
            <a:r>
              <a:rPr sz="1350" b="1" i="0">
                <a:solidFill>
                  <a:srgbClr val="1F2D45"/>
                </a:solidFill>
                <a:latin typeface="Calibri"/>
              </a:rPr>
              <a:t>ne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 donosi prosečnu prednost (0,415 naspram 0,405 m ADE) · stvarni dobici su modelovanje neizvesnosti (−27 %) i 26× manji broj parametara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49C8B"/>
                </a:solidFill>
                <a:latin typeface="Calibri"/>
              </a:rPr>
              <a:t>TEORIJSKI 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 i="0">
                <a:solidFill>
                  <a:srgbClr val="1F2D45"/>
                </a:solidFill>
                <a:latin typeface="Calibri"/>
              </a:rPr>
              <a:t>Zašto robotu treba predikcija trajektorija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5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Robot koji deli prostor sa ljudima ne sme da ih tretira kao </a:t>
            </a:r>
            <a:r>
              <a:rPr sz="1550" b="1" i="0">
                <a:solidFill>
                  <a:srgbClr val="1F2D45"/>
                </a:solidFill>
                <a:latin typeface="Calibri"/>
              </a:rPr>
              <a:t>statične prepreke</a:t>
            </a:r>
          </a:p>
          <a:p>
            <a:pPr>
              <a:spcBef>
                <a:spcPts val="900"/>
              </a:spcBef>
            </a:pPr>
            <a:r>
              <a:rPr sz="15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Klasični planeri (A*, RRT, DWA) optimizuju dužinu putanje nad trenutnim snimkom okoline:</a:t>
            </a:r>
          </a:p>
          <a:p>
            <a:pPr>
              <a:spcBef>
                <a:spcPts val="900"/>
              </a:spcBef>
            </a:pPr>
            <a:r>
              <a:rPr sz="1400" b="0" i="0">
                <a:solidFill>
                  <a:srgbClr val="6B7485"/>
                </a:solidFill>
                <a:latin typeface="Calibri"/>
              </a:rPr>
              <a:t>     •  </a:t>
            </a:r>
            <a:r>
              <a:rPr sz="1400" b="0" i="0">
                <a:solidFill>
                  <a:srgbClr val="6B7485"/>
                </a:solidFill>
                <a:latin typeface="Calibri"/>
              </a:rPr>
              <a:t>preseku grupu koja razgovara · prođu neprijatno blizu · zamrznu se u gužvi (freezing robot problem)</a:t>
            </a:r>
          </a:p>
          <a:p>
            <a:pPr>
              <a:spcBef>
                <a:spcPts val="900"/>
              </a:spcBef>
            </a:pPr>
            <a:r>
              <a:rPr sz="15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Socijalne norme su </a:t>
            </a:r>
            <a:r>
              <a:rPr sz="1550" b="1" i="0">
                <a:solidFill>
                  <a:srgbClr val="1F2D45"/>
                </a:solidFill>
                <a:latin typeface="Calibri"/>
              </a:rPr>
              <a:t>nevidljive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 u podacima o preprekama — lični prostor, grupe, pravo prolaza</a:t>
            </a:r>
          </a:p>
          <a:p>
            <a:pPr>
              <a:spcBef>
                <a:spcPts val="900"/>
              </a:spcBef>
            </a:pPr>
            <a:r>
              <a:rPr sz="15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Da bi planer bio socijalno svestan, prvo mora da zna </a:t>
            </a:r>
            <a:r>
              <a:rPr sz="1550" b="1" i="0">
                <a:solidFill>
                  <a:srgbClr val="1F2D45"/>
                </a:solidFill>
                <a:latin typeface="Calibri"/>
              </a:rPr>
              <a:t>gde će ljudi biti za 4–5 sekundi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114800"/>
            <a:ext cx="11057839" cy="1234440"/>
          </a:xfrm>
          <a:prstGeom prst="roundRect">
            <a:avLst>
              <a:gd name="adj" fmla="val 6000"/>
            </a:avLst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270248"/>
            <a:ext cx="10509199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49C8B"/>
                </a:solidFill>
                <a:latin typeface="Calibri"/>
              </a:rPr>
              <a:t>Zadatak: 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iz </a:t>
            </a:r>
            <a:r>
              <a:rPr sz="1350" b="1" i="0">
                <a:solidFill>
                  <a:srgbClr val="1F2D45"/>
                </a:solidFill>
                <a:latin typeface="Calibri"/>
              </a:rPr>
              <a:t>8 osmotrenih frejmova (3,2 s)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 predvideti narednih </a:t>
            </a:r>
            <a:r>
              <a:rPr sz="1350" b="1" i="0">
                <a:solidFill>
                  <a:srgbClr val="1F2D45"/>
                </a:solidFill>
                <a:latin typeface="Calibri"/>
              </a:rPr>
              <a:t>12 frejmova (4,8 s)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 za svakog pešaka u sceni</a:t>
            </a:r>
          </a:p>
          <a:p>
            <a:pPr>
              <a:spcBef>
                <a:spcPts val="600"/>
              </a:spcBef>
            </a:pPr>
            <a:r>
              <a:rPr sz="1350" b="1" i="0">
                <a:solidFill>
                  <a:srgbClr val="DE7B28"/>
                </a:solidFill>
                <a:latin typeface="Calibri"/>
              </a:rPr>
              <a:t>Cilj rada: 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izmeriti koliko zapravo doprinosi eksplicitno modelovanje socijalnih interakcija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49C8B"/>
                </a:solidFill>
                <a:latin typeface="Calibri"/>
              </a:rPr>
              <a:t>TEORIJSKI 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 i="0">
                <a:solidFill>
                  <a:srgbClr val="1F2D45"/>
                </a:solidFill>
                <a:latin typeface="Calibri"/>
              </a:rPr>
              <a:t>Rekurentne mreže: LSTM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5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Kretanje pešaka je </a:t>
            </a:r>
            <a:r>
              <a:rPr sz="1550" b="1" i="0">
                <a:solidFill>
                  <a:srgbClr val="1F2D45"/>
                </a:solidFill>
                <a:latin typeface="Calibri"/>
              </a:rPr>
              <a:t>vremenska serija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 — mreži treba pamćenje istorije, ne samo trenutna pozicija</a:t>
            </a:r>
          </a:p>
          <a:p>
            <a:pPr>
              <a:spcBef>
                <a:spcPts val="900"/>
              </a:spcBef>
            </a:pPr>
            <a:r>
              <a:rPr sz="15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Obična RNN pati od </a:t>
            </a:r>
            <a:r>
              <a:rPr sz="1550" b="1" i="0">
                <a:solidFill>
                  <a:srgbClr val="1F2D45"/>
                </a:solidFill>
                <a:latin typeface="Calibri"/>
              </a:rPr>
              <a:t>nestajućeg gradijenta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: kroz mnogo koraka unazad gradijent se množi i eksponencijalno teži nuli</a:t>
            </a:r>
          </a:p>
          <a:p>
            <a:pPr>
              <a:spcBef>
                <a:spcPts val="900"/>
              </a:spcBef>
            </a:pPr>
            <a:r>
              <a:rPr sz="15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LSTM uvodi </a:t>
            </a:r>
            <a:r>
              <a:rPr sz="1550" b="1" i="0">
                <a:solidFill>
                  <a:srgbClr val="1F2D45"/>
                </a:solidFill>
                <a:latin typeface="Calibri"/>
              </a:rPr>
              <a:t>ćelijsko stanje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 koje kroz vreme teče aditivno, uz tri kapije:</a:t>
            </a:r>
          </a:p>
          <a:p>
            <a:pPr>
              <a:spcBef>
                <a:spcPts val="900"/>
              </a:spcBef>
            </a:pPr>
            <a:r>
              <a:rPr sz="1400" b="0" i="0">
                <a:solidFill>
                  <a:srgbClr val="6B7485"/>
                </a:solidFill>
                <a:latin typeface="Calibri"/>
              </a:rPr>
              <a:t>     •  </a:t>
            </a:r>
            <a:r>
              <a:rPr sz="1400" b="0" i="0">
                <a:solidFill>
                  <a:srgbClr val="6B7485"/>
                </a:solidFill>
                <a:latin typeface="Calibri"/>
              </a:rPr>
              <a:t>forget — koliko starog zaboraviti · input — koliko novog upisati · output — koliko izložiti</a:t>
            </a:r>
          </a:p>
          <a:p>
            <a:pPr>
              <a:spcBef>
                <a:spcPts val="900"/>
              </a:spcBef>
            </a:pPr>
            <a:r>
              <a:rPr sz="15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Encoder–decoder: enkoder sažme 8 osmotrenih koraka, dekoder autoregresivno generiše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206240"/>
            <a:ext cx="11057839" cy="1143000"/>
          </a:xfrm>
          <a:prstGeom prst="roundRect">
            <a:avLst>
              <a:gd name="adj" fmla="val 6000"/>
            </a:avLst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361688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49C8B"/>
                </a:solidFill>
                <a:latin typeface="Calibri"/>
              </a:rPr>
              <a:t>Ključna odluka u implementaciji: 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model radi nad </a:t>
            </a:r>
            <a:r>
              <a:rPr sz="1350" b="1" i="0">
                <a:solidFill>
                  <a:srgbClr val="1F2D45"/>
                </a:solidFill>
                <a:latin typeface="Calibri"/>
              </a:rPr>
              <a:t>relativnim pomeranjima (dx, dy)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, ne nad apsolutnim koordinatama. Svaka scena ima svoj koordinatni sistem — apsolutne koordinate bi naučile *gde ljudi stoje*, a pomeranja uče *kako se ljudi kreću*.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49C8B"/>
                </a:solidFill>
                <a:latin typeface="Calibri"/>
              </a:rPr>
              <a:t>TEORIJSKI 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 i="0">
                <a:solidFill>
                  <a:srgbClr val="1F2D45"/>
                </a:solidFill>
                <a:latin typeface="Calibri"/>
              </a:rPr>
              <a:t>Scena kao dinamički graf: ST-GCNN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5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LSTM obrađuje svakog pešaka </a:t>
            </a:r>
            <a:r>
              <a:rPr sz="1550" b="1" i="0">
                <a:solidFill>
                  <a:srgbClr val="1F2D45"/>
                </a:solidFill>
                <a:latin typeface="Calibri"/>
              </a:rPr>
              <a:t>nezavisno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 — nema načina da informacija o susedu uđe u predikciju</a:t>
            </a:r>
          </a:p>
          <a:p>
            <a:pPr>
              <a:spcBef>
                <a:spcPts val="900"/>
              </a:spcBef>
            </a:pPr>
            <a:r>
              <a:rPr sz="15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Graf: </a:t>
            </a:r>
            <a:r>
              <a:rPr sz="1550" b="1" i="0">
                <a:solidFill>
                  <a:srgbClr val="1F2D45"/>
                </a:solidFill>
                <a:latin typeface="Calibri"/>
              </a:rPr>
              <a:t>čvorovi = pešaci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, težina grane = </a:t>
            </a:r>
            <a:r>
              <a:rPr sz="1550" b="1" i="0">
                <a:solidFill>
                  <a:srgbClr val="1F2D45"/>
                </a:solidFill>
                <a:latin typeface="Calibri"/>
              </a:rPr>
              <a:t>1 / udaljenost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 — bliži pešaci jače utiču</a:t>
            </a:r>
          </a:p>
          <a:p>
            <a:pPr>
              <a:spcBef>
                <a:spcPts val="900"/>
              </a:spcBef>
            </a:pPr>
            <a:r>
              <a:rPr sz="1400" b="0" i="0">
                <a:solidFill>
                  <a:srgbClr val="6B7485"/>
                </a:solidFill>
                <a:latin typeface="Calibri"/>
              </a:rPr>
              <a:t>     •  </a:t>
            </a:r>
            <a:r>
              <a:rPr sz="1400" b="0" i="0">
                <a:solidFill>
                  <a:srgbClr val="6B7485"/>
                </a:solidFill>
                <a:latin typeface="Calibri"/>
              </a:rPr>
              <a:t>to je direktna formalizacija ideje ličnog prostora</a:t>
            </a:r>
          </a:p>
          <a:p>
            <a:pPr>
              <a:spcBef>
                <a:spcPts val="900"/>
              </a:spcBef>
            </a:pPr>
            <a:r>
              <a:rPr sz="15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Normalizacija Â = D^(−1/2)(A + I)D^(−1/2); dodato I su petlje ka sebi, bez njih čvor izgubi sopstvenu informaciju</a:t>
            </a:r>
          </a:p>
          <a:p>
            <a:pPr>
              <a:spcBef>
                <a:spcPts val="900"/>
              </a:spcBef>
            </a:pPr>
            <a:r>
              <a:rPr sz="15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Graf je </a:t>
            </a:r>
            <a:r>
              <a:rPr sz="1550" b="1" i="0">
                <a:solidFill>
                  <a:srgbClr val="1F2D45"/>
                </a:solidFill>
                <a:latin typeface="Calibri"/>
              </a:rPr>
              <a:t>dinamički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 — menja se u svakom vremenskom koraku jer se ljudi kreću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343400"/>
            <a:ext cx="5419191" cy="1417320"/>
          </a:xfrm>
          <a:prstGeom prst="roundRect">
            <a:avLst>
              <a:gd name="adj" fmla="val 10000"/>
            </a:avLst>
          </a:prstGeom>
          <a:solidFill>
            <a:srgbClr val="F2F3F7"/>
          </a:solidFill>
          <a:ln w="19050">
            <a:solidFill>
              <a:srgbClr val="149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26280"/>
            <a:ext cx="4943703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49C8B"/>
                </a:solidFill>
                <a:latin typeface="Calibri"/>
              </a:rPr>
              <a:t>PROSTORNA KOMPONENTA</a:t>
            </a:r>
          </a:p>
          <a:p>
            <a:pPr>
              <a:spcBef>
                <a:spcPts val="700"/>
              </a:spcBef>
            </a:pPr>
            <a:r>
              <a:rPr sz="1400" b="1" i="0">
                <a:solidFill>
                  <a:srgbClr val="1F2D45"/>
                </a:solidFill>
                <a:latin typeface="Calibri"/>
              </a:rPr>
              <a:t>Graph konvolucija</a:t>
            </a:r>
          </a:p>
          <a:p>
            <a:pPr>
              <a:spcBef>
                <a:spcPts val="700"/>
              </a:spcBef>
            </a:pPr>
            <a:r>
              <a:rPr sz="1150" b="0" i="0">
                <a:solidFill>
                  <a:srgbClr val="6B7485"/>
                </a:solidFill>
                <a:latin typeface="Calibri"/>
              </a:rPr>
              <a:t>agregira susede u svakom vremenskom trenutku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5575" y="4343400"/>
            <a:ext cx="5419191" cy="1417320"/>
          </a:xfrm>
          <a:prstGeom prst="roundRect">
            <a:avLst>
              <a:gd name="adj" fmla="val 10000"/>
            </a:avLst>
          </a:prstGeom>
          <a:solidFill>
            <a:srgbClr val="F2F3F7"/>
          </a:solidFill>
          <a:ln w="19050">
            <a:solidFill>
              <a:srgbClr val="DE7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3319" y="4526280"/>
            <a:ext cx="4943703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E7B28"/>
                </a:solidFill>
                <a:latin typeface="Calibri"/>
              </a:rPr>
              <a:t>VREMENSKA KOMPONENTA</a:t>
            </a:r>
          </a:p>
          <a:p>
            <a:pPr>
              <a:spcBef>
                <a:spcPts val="700"/>
              </a:spcBef>
            </a:pPr>
            <a:r>
              <a:rPr sz="1400" b="1" i="0">
                <a:solidFill>
                  <a:srgbClr val="1F2D45"/>
                </a:solidFill>
                <a:latin typeface="Calibri"/>
              </a:rPr>
              <a:t>TCN + TXP-CNN</a:t>
            </a:r>
          </a:p>
          <a:p>
            <a:pPr>
              <a:spcBef>
                <a:spcPts val="700"/>
              </a:spcBef>
            </a:pPr>
            <a:r>
              <a:rPr sz="1150" b="0" i="0">
                <a:solidFill>
                  <a:srgbClr val="6B7485"/>
                </a:solidFill>
                <a:latin typeface="Calibri"/>
              </a:rPr>
              <a:t>konvolucija po vremenskoj osi: svih 12 koraka u jednom prolazu, ne rekurentno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49C8B"/>
                </a:solidFill>
                <a:latin typeface="Calibri"/>
              </a:rPr>
              <a:t>TEORIJSKI 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 i="0">
                <a:solidFill>
                  <a:srgbClr val="1F2D45"/>
                </a:solidFill>
                <a:latin typeface="Calibri"/>
              </a:rPr>
              <a:t>Zašto raspodela, a ne jedna tačka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5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Budućnost je </a:t>
            </a:r>
            <a:r>
              <a:rPr sz="1550" b="1" i="0">
                <a:solidFill>
                  <a:srgbClr val="1F2D45"/>
                </a:solidFill>
                <a:latin typeface="Calibri"/>
              </a:rPr>
              <a:t>multimodalna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: pešak pred raskrsnicom može levo ili desno — obe opcije su ispravne</a:t>
            </a:r>
          </a:p>
          <a:p>
            <a:pPr>
              <a:spcBef>
                <a:spcPts val="900"/>
              </a:spcBef>
            </a:pPr>
            <a:r>
              <a:rPr sz="15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50" b="0" i="0">
                <a:solidFill>
                  <a:srgbClr val="C0392B"/>
                </a:solidFill>
                <a:latin typeface="Calibri"/>
              </a:rPr>
              <a:t>Model treniran L2 gubitkom uči </a:t>
            </a:r>
            <a:r>
              <a:rPr sz="1550" b="1" i="0">
                <a:solidFill>
                  <a:srgbClr val="C0392B"/>
                </a:solidFill>
                <a:latin typeface="Calibri"/>
              </a:rPr>
              <a:t>uslovno očekivanje</a:t>
            </a:r>
            <a:r>
              <a:rPr sz="1550" b="0" i="0">
                <a:solidFill>
                  <a:srgbClr val="C0392B"/>
                </a:solidFill>
                <a:latin typeface="Calibri"/>
              </a:rPr>
              <a:t> → predviđa tačku *između* dve mogućnosti, kroz koju pešak nikada neće proći</a:t>
            </a:r>
          </a:p>
          <a:p>
            <a:pPr>
              <a:spcBef>
                <a:spcPts val="900"/>
              </a:spcBef>
            </a:pPr>
            <a:r>
              <a:rPr sz="15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Rešenje: izlaz su parametri </a:t>
            </a:r>
            <a:r>
              <a:rPr sz="1550" b="1" i="0">
                <a:solidFill>
                  <a:srgbClr val="1F2D45"/>
                </a:solidFill>
                <a:latin typeface="Calibri"/>
              </a:rPr>
              <a:t>bivarijantne Gausove raspodele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 (μx, μy, σx, σy, ρ), trening negativnom log-izglednošću</a:t>
            </a:r>
          </a:p>
          <a:p>
            <a:pPr>
              <a:spcBef>
                <a:spcPts val="900"/>
              </a:spcBef>
            </a:pPr>
            <a:r>
              <a:rPr sz="15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Model tada uči i </a:t>
            </a:r>
            <a:r>
              <a:rPr sz="1550" b="1" i="0">
                <a:solidFill>
                  <a:srgbClr val="1F2D45"/>
                </a:solidFill>
                <a:latin typeface="Calibri"/>
              </a:rPr>
              <a:t>koliko je siguran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 — σ raste tamo gde ima više mogućih ishoda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114800"/>
            <a:ext cx="11057839" cy="1280160"/>
          </a:xfrm>
          <a:prstGeom prst="roundRect">
            <a:avLst>
              <a:gd name="adj" fmla="val 6000"/>
            </a:avLst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270248"/>
            <a:ext cx="10509199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49C8B"/>
                </a:solidFill>
                <a:latin typeface="Calibri"/>
              </a:rPr>
              <a:t>Za robotiku: 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raspodela je </a:t>
            </a:r>
            <a:r>
              <a:rPr sz="1350" b="1" i="0">
                <a:solidFill>
                  <a:srgbClr val="1F2D45"/>
                </a:solidFill>
                <a:latin typeface="Calibri"/>
              </a:rPr>
              <a:t>korisnija od tačke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 — heatmap verovatnoće je direktno upotrebljiv kao polje cene za planer putanje</a:t>
            </a:r>
          </a:p>
          <a:p>
            <a:pPr>
              <a:spcBef>
                <a:spcPts val="600"/>
              </a:spcBef>
            </a:pPr>
            <a:r>
              <a:rPr sz="1350" b="1" i="0">
                <a:solidFill>
                  <a:srgbClr val="DE7B28"/>
                </a:solidFill>
                <a:latin typeface="Calibri"/>
              </a:rPr>
              <a:t>Best-of-20: 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standardni protokol iz literature — uzorkuje se 20 trajektorija i uzima najbolja; meri da li stvarna budućnost leži unutar naučene raspodele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49C8B"/>
                </a:solidFill>
                <a:latin typeface="Calibri"/>
              </a:rPr>
              <a:t>TEORIJSKI 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 i="0">
                <a:solidFill>
                  <a:srgbClr val="1F2D45"/>
                </a:solidFill>
                <a:latin typeface="Calibri"/>
              </a:rPr>
              <a:t>Metrike i protokol evaluacije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5419191" cy="1371600"/>
          </a:xfrm>
          <a:prstGeom prst="roundRect">
            <a:avLst>
              <a:gd name="adj" fmla="val 10000"/>
            </a:avLst>
          </a:prstGeom>
          <a:solidFill>
            <a:srgbClr val="F2F3F7"/>
          </a:solidFill>
          <a:ln w="19050">
            <a:solidFill>
              <a:srgbClr val="149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54480"/>
            <a:ext cx="4943703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49C8B"/>
                </a:solidFill>
                <a:latin typeface="Calibri"/>
              </a:rPr>
              <a:t>ADE — AVERAGE DISPLACEMENT ERROR</a:t>
            </a:r>
          </a:p>
          <a:p>
            <a:pPr>
              <a:spcBef>
                <a:spcPts val="700"/>
              </a:spcBef>
            </a:pPr>
            <a:r>
              <a:rPr sz="1300" b="1" i="0">
                <a:solidFill>
                  <a:srgbClr val="1F2D45"/>
                </a:solidFill>
                <a:latin typeface="Calibri"/>
              </a:rPr>
              <a:t>Srednja euklidska udaljenost kroz svih 12 koraka</a:t>
            </a:r>
          </a:p>
          <a:p>
            <a:pPr>
              <a:spcBef>
                <a:spcPts val="700"/>
              </a:spcBef>
            </a:pPr>
            <a:r>
              <a:rPr sz="1100" b="0" i="0">
                <a:solidFill>
                  <a:srgbClr val="6B7485"/>
                </a:solidFill>
                <a:latin typeface="Calibri"/>
              </a:rPr>
              <a:t>u metrima — NIJE srednja kvadratna greška (MSE bi bio u m²)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5575" y="1371600"/>
            <a:ext cx="5419191" cy="1371600"/>
          </a:xfrm>
          <a:prstGeom prst="roundRect">
            <a:avLst>
              <a:gd name="adj" fmla="val 10000"/>
            </a:avLst>
          </a:prstGeom>
          <a:solidFill>
            <a:srgbClr val="F2F3F7"/>
          </a:solidFill>
          <a:ln w="19050">
            <a:solidFill>
              <a:srgbClr val="DE7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3319" y="1554480"/>
            <a:ext cx="4943703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E7B28"/>
                </a:solidFill>
                <a:latin typeface="Calibri"/>
              </a:rPr>
              <a:t>FDE — FINAL DISPLACEMENT ERROR</a:t>
            </a:r>
          </a:p>
          <a:p>
            <a:pPr>
              <a:spcBef>
                <a:spcPts val="700"/>
              </a:spcBef>
            </a:pPr>
            <a:r>
              <a:rPr sz="1300" b="1" i="0">
                <a:solidFill>
                  <a:srgbClr val="1F2D45"/>
                </a:solidFill>
                <a:latin typeface="Calibri"/>
              </a:rPr>
              <a:t>Udaljenost samo u poslednjem, 12. koraku</a:t>
            </a:r>
          </a:p>
          <a:p>
            <a:pPr>
              <a:spcBef>
                <a:spcPts val="700"/>
              </a:spcBef>
            </a:pPr>
            <a:r>
              <a:rPr sz="1100" b="0" i="0">
                <a:solidFill>
                  <a:srgbClr val="6B7485"/>
                </a:solidFill>
                <a:latin typeface="Calibri"/>
              </a:rPr>
              <a:t>meri da li je model pogodio odredište — planeru često važnije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5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50" b="1" i="0">
                <a:solidFill>
                  <a:srgbClr val="1F2D45"/>
                </a:solidFill>
                <a:latin typeface="Calibri"/>
              </a:rPr>
              <a:t>Leave-one-scene-out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: trening na 4 scene, test na petoj koju model nikada nije video</a:t>
            </a:r>
          </a:p>
          <a:p>
            <a:pPr>
              <a:spcBef>
                <a:spcPts val="900"/>
              </a:spcBef>
            </a:pPr>
            <a:r>
              <a:rPr sz="1400" b="0" i="0">
                <a:solidFill>
                  <a:srgbClr val="6B7485"/>
                </a:solidFill>
                <a:latin typeface="Calibri"/>
              </a:rPr>
              <a:t>     •  </a:t>
            </a:r>
            <a:r>
              <a:rPr sz="1400" b="0" i="0">
                <a:solidFill>
                  <a:srgbClr val="6B7485"/>
                </a:solidFill>
                <a:latin typeface="Calibri"/>
              </a:rPr>
              <a:t>meri generalizaciju na potpuno nov prostor — realan uslov za robota u nemapiranoj zgradi</a:t>
            </a:r>
          </a:p>
          <a:p>
            <a:pPr>
              <a:spcBef>
                <a:spcPts val="900"/>
              </a:spcBef>
            </a:pPr>
            <a:r>
              <a:rPr sz="15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Greške se akumuliraju kao </a:t>
            </a:r>
            <a:r>
              <a:rPr sz="1550" b="1" i="0">
                <a:solidFill>
                  <a:srgbClr val="1F2D45"/>
                </a:solidFill>
                <a:latin typeface="Calibri"/>
              </a:rPr>
              <a:t>sume po agentima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 i dele tek na kraju — prosek proseka po batch-evima bi pogrešno ponderisao male batch-eve</a:t>
            </a:r>
          </a:p>
          <a:p>
            <a:pPr>
              <a:spcBef>
                <a:spcPts val="900"/>
              </a:spcBef>
            </a:pPr>
            <a:r>
              <a:rPr sz="15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Test skup se </a:t>
            </a:r>
            <a:r>
              <a:rPr sz="1550" b="1" i="0">
                <a:solidFill>
                  <a:srgbClr val="1F2D45"/>
                </a:solidFill>
                <a:latin typeface="Calibri"/>
              </a:rPr>
              <a:t>ne dodiruje</a:t>
            </a:r>
            <a:r>
              <a:rPr sz="1550" b="0" i="0">
                <a:solidFill>
                  <a:srgbClr val="1F2D45"/>
                </a:solidFill>
                <a:latin typeface="Calibri"/>
              </a:rPr>
              <a:t> ni tokom treninga ni tokom pretrage hiperparametara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49C8B"/>
                </a:solidFill>
                <a:latin typeface="Calibri"/>
              </a:rPr>
              <a:t>PRAKTIČNI 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 i="0">
                <a:solidFill>
                  <a:srgbClr val="1F2D45"/>
                </a:solidFill>
                <a:latin typeface="Calibri"/>
              </a:rPr>
              <a:t>Arhitektura sistema: kompletan 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6B7485"/>
                </a:solidFill>
                <a:latin typeface="Calibri"/>
              </a:rPr>
              <a:t>PRIPREMA PODATAKA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2448991" cy="731520"/>
          </a:xfrm>
          <a:prstGeom prst="roundRect">
            <a:avLst>
              <a:gd name="adj" fmla="val 10000"/>
            </a:avLst>
          </a:prstGeom>
          <a:solidFill>
            <a:srgbClr val="1F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46504"/>
            <a:ext cx="230268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ETH-UCY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C8D0DC"/>
                </a:solidFill>
                <a:latin typeface="Calibri"/>
              </a:rPr>
              <a:t>5 scena · .txt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07359" y="1901952"/>
            <a:ext cx="237744" cy="182880"/>
          </a:xfrm>
          <a:prstGeom prst="rightArrow">
            <a:avLst/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36543" y="1627632"/>
            <a:ext cx="2448991" cy="731520"/>
          </a:xfrm>
          <a:prstGeom prst="roundRect">
            <a:avLst>
              <a:gd name="adj" fmla="val 10000"/>
            </a:avLst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9695" y="1746504"/>
            <a:ext cx="230268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data_loader.py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C8D0DC"/>
                </a:solidFill>
                <a:latin typeface="Calibri"/>
              </a:rPr>
              <a:t>sekvence 8 → 12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76975" y="1901952"/>
            <a:ext cx="237744" cy="182880"/>
          </a:xfrm>
          <a:prstGeom prst="rightArrow">
            <a:avLst/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6159" y="1627632"/>
            <a:ext cx="2448991" cy="731520"/>
          </a:xfrm>
          <a:prstGeom prst="roundRect">
            <a:avLst>
              <a:gd name="adj" fmla="val 10000"/>
            </a:avLst>
          </a:prstGeom>
          <a:solidFill>
            <a:srgbClr val="1F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9311" y="1746504"/>
            <a:ext cx="230268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relativna pomeranja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C8D0DC"/>
                </a:solidFill>
                <a:latin typeface="Calibri"/>
              </a:rPr>
              <a:t>(dx, dy)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46591" y="1901952"/>
            <a:ext cx="237744" cy="182880"/>
          </a:xfrm>
          <a:prstGeom prst="rightArrow">
            <a:avLst/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75775" y="1627632"/>
            <a:ext cx="2448991" cy="731520"/>
          </a:xfrm>
          <a:prstGeom prst="roundRect">
            <a:avLst>
              <a:gd name="adj" fmla="val 10000"/>
            </a:avLst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8927" y="1746504"/>
            <a:ext cx="230268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seq_start_end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C8D0DC"/>
                </a:solidFill>
                <a:latin typeface="Calibri"/>
              </a:rPr>
              <a:t>granice scena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670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6B7485"/>
                </a:solidFill>
                <a:latin typeface="Calibri"/>
              </a:rPr>
              <a:t>TRENING — tri modela paralelno, isti loader i isti evaluacioni modul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971800"/>
            <a:ext cx="2448991" cy="731520"/>
          </a:xfrm>
          <a:prstGeom prst="roundRect">
            <a:avLst>
              <a:gd name="adj" fmla="val 10000"/>
            </a:avLst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90672"/>
            <a:ext cx="230268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LSTM baseline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C8D0DC"/>
                </a:solidFill>
                <a:latin typeface="Calibri"/>
              </a:rPr>
              <a:t>L2 gubitak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36543" y="2971800"/>
            <a:ext cx="2448991" cy="731520"/>
          </a:xfrm>
          <a:prstGeom prst="roundRect">
            <a:avLst>
              <a:gd name="adj" fmla="val 10000"/>
            </a:avLst>
          </a:prstGeom>
          <a:solidFill>
            <a:srgbClr val="DE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09695" y="3090672"/>
            <a:ext cx="230268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LSTM-prob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C8D0DC"/>
                </a:solidFill>
                <a:latin typeface="Calibri"/>
              </a:rPr>
              <a:t>NLL · kontrola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6159" y="2971800"/>
            <a:ext cx="2448991" cy="731520"/>
          </a:xfrm>
          <a:prstGeom prst="roundRect">
            <a:avLst>
              <a:gd name="adj" fmla="val 10000"/>
            </a:avLst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9311" y="3090672"/>
            <a:ext cx="230268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Social-STGCNN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C8D0DC"/>
                </a:solidFill>
                <a:latin typeface="Calibri"/>
              </a:rPr>
              <a:t>graf · NLL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75775" y="2971800"/>
            <a:ext cx="2448991" cy="731520"/>
          </a:xfrm>
          <a:prstGeom prst="roundRect">
            <a:avLst>
              <a:gd name="adj" fmla="val 10000"/>
            </a:avLst>
          </a:prstGeom>
          <a:solidFill>
            <a:srgbClr val="1F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48927" y="3090672"/>
            <a:ext cx="230268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tune_optuna.py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C8D0DC"/>
                </a:solidFill>
                <a:latin typeface="Calibri"/>
              </a:rPr>
              <a:t>TPE + pruning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014215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6B7485"/>
                </a:solidFill>
                <a:latin typeface="Calibri"/>
              </a:rPr>
              <a:t>EVALUACIJA I ANALIZA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315968"/>
            <a:ext cx="2448991" cy="731520"/>
          </a:xfrm>
          <a:prstGeom prst="roundRect">
            <a:avLst>
              <a:gd name="adj" fmla="val 10000"/>
            </a:avLst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434840"/>
            <a:ext cx="230268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metrics.py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C8D0DC"/>
                </a:solidFill>
                <a:latin typeface="Calibri"/>
              </a:rPr>
              <a:t>ADE / FDE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107359" y="4590288"/>
            <a:ext cx="237744" cy="182880"/>
          </a:xfrm>
          <a:prstGeom prst="rightArrow">
            <a:avLst/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36543" y="4315968"/>
            <a:ext cx="2448991" cy="731520"/>
          </a:xfrm>
          <a:prstGeom prst="roundRect">
            <a:avLst>
              <a:gd name="adj" fmla="val 10000"/>
            </a:avLst>
          </a:prstGeom>
          <a:solidFill>
            <a:srgbClr val="1F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09695" y="4434840"/>
            <a:ext cx="230268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compare.py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C8D0DC"/>
                </a:solidFill>
                <a:latin typeface="Calibri"/>
              </a:rPr>
              <a:t>results.md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976975" y="4590288"/>
            <a:ext cx="237744" cy="182880"/>
          </a:xfrm>
          <a:prstGeom prst="rightArrow">
            <a:avLst/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06159" y="4315968"/>
            <a:ext cx="2448991" cy="731520"/>
          </a:xfrm>
          <a:prstGeom prst="roundRect">
            <a:avLst>
              <a:gd name="adj" fmla="val 10000"/>
            </a:avLst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9311" y="4434840"/>
            <a:ext cx="230268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visualize.py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C8D0DC"/>
                </a:solidFill>
                <a:latin typeface="Calibri"/>
              </a:rPr>
              <a:t>trajektorije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846591" y="4590288"/>
            <a:ext cx="237744" cy="182880"/>
          </a:xfrm>
          <a:prstGeom prst="rightArrow">
            <a:avLst/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75775" y="4315968"/>
            <a:ext cx="2448991" cy="731520"/>
          </a:xfrm>
          <a:prstGeom prst="roundRect">
            <a:avLst>
              <a:gd name="adj" fmla="val 10000"/>
            </a:avLst>
          </a:prstGeom>
          <a:solidFill>
            <a:srgbClr val="DE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48927" y="4434840"/>
            <a:ext cx="230268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heatmap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C8D0DC"/>
                </a:solidFill>
                <a:latin typeface="Calibri"/>
              </a:rPr>
              <a:t>gustina verovatnoće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440680"/>
            <a:ext cx="11057839" cy="822960"/>
          </a:xfrm>
          <a:prstGeom prst="roundRect">
            <a:avLst>
              <a:gd name="adj" fmla="val 6000"/>
            </a:avLst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5596128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49C8B"/>
                </a:solidFill>
                <a:latin typeface="Calibri"/>
              </a:rPr>
              <a:t>Ključno za korektnost: 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sva tri modela dele </a:t>
            </a:r>
            <a:r>
              <a:rPr sz="1350" b="1" i="0">
                <a:solidFill>
                  <a:srgbClr val="1F2D45"/>
                </a:solidFill>
                <a:latin typeface="Calibri"/>
              </a:rPr>
              <a:t>jedan data loader i jedan evaluacioni modul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 — nijedna izmerena razlika ne može poticati od podataka ili od koda metrike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49C8B"/>
                </a:solidFill>
                <a:latin typeface="Calibri"/>
              </a:rPr>
              <a:t>PRAKTIČNI 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 i="0">
                <a:solidFill>
                  <a:srgbClr val="1F2D45"/>
                </a:solidFill>
                <a:latin typeface="Calibri"/>
              </a:rPr>
              <a:t>Podaci: ETH-UCY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50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D45"/>
                </a:solidFill>
                <a:latin typeface="Calibri"/>
              </a:rPr>
              <a:t>Standardni benchmark u oblasti — 5 scena iz ptičje perspektive, koordinate u </a:t>
            </a:r>
            <a:r>
              <a:rPr sz="1500" b="1" i="0">
                <a:solidFill>
                  <a:srgbClr val="1F2D45"/>
                </a:solidFill>
                <a:latin typeface="Calibri"/>
              </a:rPr>
              <a:t>metrima</a:t>
            </a:r>
          </a:p>
          <a:p>
            <a:pPr>
              <a:spcBef>
                <a:spcPts val="900"/>
              </a:spcBef>
            </a:pPr>
            <a:r>
              <a:rPr sz="150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D45"/>
                </a:solidFill>
                <a:latin typeface="Calibri"/>
              </a:rPr>
              <a:t>Frekvencija 2,5 Hz (jedan frejm na 0,4 s) · format: frame_id, ped_id, x, y</a:t>
            </a:r>
          </a:p>
          <a:p>
            <a:pPr>
              <a:spcBef>
                <a:spcPts val="900"/>
              </a:spcBef>
            </a:pPr>
            <a:r>
              <a:rPr sz="150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D45"/>
                </a:solidFill>
                <a:latin typeface="Calibri"/>
              </a:rPr>
              <a:t>Korišćen </a:t>
            </a:r>
            <a:r>
              <a:rPr sz="1500" b="1" i="0">
                <a:solidFill>
                  <a:srgbClr val="1F2D45"/>
                </a:solidFill>
                <a:latin typeface="Calibri"/>
              </a:rPr>
              <a:t>standardizovani split</a:t>
            </a:r>
            <a:r>
              <a:rPr sz="1500" b="0" i="0">
                <a:solidFill>
                  <a:srgbClr val="1F2D45"/>
                </a:solidFill>
                <a:latin typeface="Calibri"/>
              </a:rPr>
              <a:t> iz Social-STGCNN repozitorijuma (isti kao Social-GAN) — zato su rezultati direktno uporedivi sa objavljenim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788920"/>
          <a:ext cx="11057836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82229"/>
                <a:gridCol w="4272346"/>
                <a:gridCol w="1884858"/>
                <a:gridCol w="1507887"/>
                <a:gridCol w="2010516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Scena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Karakter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Trening sekv.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Test sekv.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Test trajektorija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ETH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ulaz na univerzitet, redak saobraćaj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3.283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253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364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HOTEL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ulaz u hotel, mnogo ljudi stoji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3.118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445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1.197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UNIV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kampus, vrlo gusto (40+ ljudi)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2.719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947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24.334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ZARA1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trgovačka ulica, dvosmerni tok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2.889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705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2.356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ZARA2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trgovačka ulica, slično ZARA1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2.681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998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5.910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166360"/>
            <a:ext cx="11057839" cy="822960"/>
          </a:xfrm>
          <a:prstGeom prst="roundRect">
            <a:avLst>
              <a:gd name="adj" fmla="val 6000"/>
            </a:avLst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321808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DE7B28"/>
                </a:solidFill>
                <a:latin typeface="Calibri"/>
              </a:rPr>
              <a:t>Zašto UNIV odskače: 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gusta scena — kada se izdvoji za test, trening ostaje bez najgušćih primera, a test skup ima prosečno 25,7 pešaka po prozoru naspram 1,4 za ETH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49C8B"/>
                </a:solidFill>
                <a:latin typeface="Calibri"/>
              </a:rPr>
              <a:t>PRAKTIČNI 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 i="0">
                <a:solidFill>
                  <a:srgbClr val="1F2D45"/>
                </a:solidFill>
                <a:latin typeface="Calibri"/>
              </a:rPr>
              <a:t>Tri modela i zašto baš tri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25880"/>
          <a:ext cx="11057836" cy="16824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18196"/>
                <a:gridCol w="4513403"/>
                <a:gridCol w="1918196"/>
                <a:gridCol w="1128350"/>
                <a:gridCol w="1579691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Ideja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Vidi druge agente?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Gubitak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Parametara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Vanilla LSTM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svaki pešak = nezavisna vremenska serija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0392B"/>
                          </a:solidFill>
                          <a:latin typeface="Calibri"/>
                        </a:rPr>
                        <a:t>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199.106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LSTM-prob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isti LSTM, ali predviđa raspodelu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0392B"/>
                          </a:solidFill>
                          <a:latin typeface="Calibri"/>
                        </a:rPr>
                        <a:t>ne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NLL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199.493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Social-STGCNN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scena = dinamički graf, GCN + TCN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E8449"/>
                          </a:solidFill>
                          <a:latin typeface="Calibri"/>
                        </a:rPr>
                        <a:t>da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NLL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49C8B"/>
                          </a:solidFill>
                          <a:latin typeface="Calibri"/>
                        </a:rPr>
                        <a:t>7.563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1546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50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00" b="1" i="0">
                <a:solidFill>
                  <a:srgbClr val="1F2D45"/>
                </a:solidFill>
                <a:latin typeface="Calibri"/>
              </a:rPr>
              <a:t>Treći model nije bio u prvobitnom planu</a:t>
            </a:r>
            <a:r>
              <a:rPr sz="1500" b="0" i="0">
                <a:solidFill>
                  <a:srgbClr val="1F2D45"/>
                </a:solidFill>
                <a:latin typeface="Calibri"/>
              </a:rPr>
              <a:t> — dodat je jer poređenje prva dva ima confound:</a:t>
            </a:r>
          </a:p>
          <a:p>
            <a:pPr>
              <a:spcBef>
                <a:spcPts val="900"/>
              </a:spcBef>
            </a:pPr>
            <a:r>
              <a:rPr sz="1350" b="0" i="0">
                <a:solidFill>
                  <a:srgbClr val="6B7485"/>
                </a:solidFill>
                <a:latin typeface="Calibri"/>
              </a:rPr>
              <a:t>     •  </a:t>
            </a:r>
            <a:r>
              <a:rPr sz="1350" b="0" i="0">
                <a:solidFill>
                  <a:srgbClr val="6B7485"/>
                </a:solidFill>
                <a:latin typeface="Calibri"/>
              </a:rPr>
              <a:t>razlikuju se u DVE stvari istovremeno — arhitekturi </a:t>
            </a:r>
            <a:r>
              <a:rPr sz="1350" b="1" i="0">
                <a:solidFill>
                  <a:srgbClr val="6B7485"/>
                </a:solidFill>
                <a:latin typeface="Calibri"/>
              </a:rPr>
              <a:t>i</a:t>
            </a:r>
            <a:r>
              <a:rPr sz="1350" b="0" i="0">
                <a:solidFill>
                  <a:srgbClr val="6B7485"/>
                </a:solidFill>
                <a:latin typeface="Calibri"/>
              </a:rPr>
              <a:t> funkciji gubitka</a:t>
            </a:r>
          </a:p>
          <a:p>
            <a:pPr>
              <a:spcBef>
                <a:spcPts val="900"/>
              </a:spcBef>
            </a:pPr>
            <a:r>
              <a:rPr sz="1350" b="0" i="0">
                <a:solidFill>
                  <a:srgbClr val="6B7485"/>
                </a:solidFill>
                <a:latin typeface="Calibri"/>
              </a:rPr>
              <a:t>     •  </a:t>
            </a:r>
            <a:r>
              <a:rPr sz="1350" b="0" i="0">
                <a:solidFill>
                  <a:srgbClr val="6B7485"/>
                </a:solidFill>
                <a:latin typeface="Calibri"/>
              </a:rPr>
              <a:t>model treniran NLL-om ima srednju vrednost koja nije optimizovana za ADE</a:t>
            </a:r>
          </a:p>
          <a:p>
            <a:pPr>
              <a:spcBef>
                <a:spcPts val="900"/>
              </a:spcBef>
            </a:pPr>
            <a:r>
              <a:rPr sz="1350" b="0" i="0">
                <a:solidFill>
                  <a:srgbClr val="6B7485"/>
                </a:solidFill>
                <a:latin typeface="Calibri"/>
              </a:rPr>
              <a:t>     •  </a:t>
            </a:r>
            <a:r>
              <a:rPr sz="1350" b="0" i="0">
                <a:solidFill>
                  <a:srgbClr val="6B7485"/>
                </a:solidFill>
                <a:latin typeface="Calibri"/>
              </a:rPr>
              <a:t>best-of-20 naspram jedne predikcije poredi 20 pokušaja sa 1</a:t>
            </a:r>
          </a:p>
          <a:p>
            <a:pPr>
              <a:spcBef>
                <a:spcPts val="900"/>
              </a:spcBef>
            </a:pPr>
            <a:r>
              <a:rPr sz="150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D45"/>
                </a:solidFill>
                <a:latin typeface="Calibri"/>
              </a:rPr>
              <a:t>LSTM-prob = isti LSTM + </a:t>
            </a:r>
            <a:r>
              <a:rPr sz="1500" b="1" i="0">
                <a:solidFill>
                  <a:srgbClr val="1F2D45"/>
                </a:solidFill>
                <a:latin typeface="Calibri"/>
              </a:rPr>
              <a:t>identična</a:t>
            </a:r>
            <a:r>
              <a:rPr sz="1500" b="0" i="0">
                <a:solidFill>
                  <a:srgbClr val="1F2D45"/>
                </a:solidFill>
                <a:latin typeface="Calibri"/>
              </a:rPr>
              <a:t> Gausova glava, gubitak, kriterijum izbora i protokol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623560"/>
            <a:ext cx="11057839" cy="731520"/>
          </a:xfrm>
          <a:prstGeom prst="roundRect">
            <a:avLst>
              <a:gd name="adj" fmla="val 6000"/>
            </a:avLst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779008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49C8B"/>
                </a:solidFill>
                <a:latin typeface="Calibri"/>
              </a:rPr>
              <a:t>Tek tada 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modeli se razlikuju u </a:t>
            </a:r>
            <a:r>
              <a:rPr sz="1350" b="1" i="0">
                <a:solidFill>
                  <a:srgbClr val="1F2D45"/>
                </a:solidFill>
                <a:latin typeface="Calibri"/>
              </a:rPr>
              <a:t>tačno jednoj stvari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: da li arhitektura vidi druge pešake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49C8B"/>
                </a:solidFill>
                <a:latin typeface="Calibri"/>
              </a:rPr>
              <a:t>PRAKTIČNI 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 i="0">
                <a:solidFill>
                  <a:srgbClr val="1F2D45"/>
                </a:solidFill>
                <a:latin typeface="Calibri"/>
              </a:rPr>
              <a:t>Blok-dijagonalno pakovanje grafova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50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D45"/>
                </a:solidFill>
                <a:latin typeface="Calibri"/>
              </a:rPr>
              <a:t>Naivna implementacija obrađuje </a:t>
            </a:r>
            <a:r>
              <a:rPr sz="1500" b="1" i="0">
                <a:solidFill>
                  <a:srgbClr val="1F2D45"/>
                </a:solidFill>
                <a:latin typeface="Calibri"/>
              </a:rPr>
              <a:t>jednu scenu po koraku</a:t>
            </a:r>
            <a:r>
              <a:rPr sz="1500" b="0" i="0">
                <a:solidFill>
                  <a:srgbClr val="1F2D45"/>
                </a:solidFill>
                <a:latin typeface="Calibri"/>
              </a:rPr>
              <a:t> — 3.283 sitna GPU poziva po epohi</a:t>
            </a:r>
          </a:p>
          <a:p>
            <a:pPr>
              <a:spcBef>
                <a:spcPts val="900"/>
              </a:spcBef>
            </a:pPr>
            <a:r>
              <a:rPr sz="1350" b="0" i="0">
                <a:solidFill>
                  <a:srgbClr val="6B7485"/>
                </a:solidFill>
                <a:latin typeface="Calibri"/>
              </a:rPr>
              <a:t>     •  </a:t>
            </a:r>
            <a:r>
              <a:rPr sz="1350" b="0" i="0">
                <a:solidFill>
                  <a:srgbClr val="6B7485"/>
                </a:solidFill>
                <a:latin typeface="Calibri"/>
              </a:rPr>
              <a:t>profilisanje: 0,2 s loader + 9,0 s matrice susedstva + 34,1 s forward/backward ≈ 62 s/epoha</a:t>
            </a:r>
          </a:p>
          <a:p>
            <a:pPr>
              <a:spcBef>
                <a:spcPts val="900"/>
              </a:spcBef>
            </a:pPr>
            <a:r>
              <a:rPr sz="1350" b="0" i="0">
                <a:solidFill>
                  <a:srgbClr val="6B7485"/>
                </a:solidFill>
                <a:latin typeface="Calibri"/>
              </a:rPr>
              <a:t>     •  </a:t>
            </a:r>
            <a:r>
              <a:rPr sz="1350" b="0" i="0">
                <a:solidFill>
                  <a:srgbClr val="6B7485"/>
                </a:solidFill>
                <a:latin typeface="Calibri"/>
              </a:rPr>
              <a:t>za 250 epoha × 5 scena to je ~13 sati — neizvodljivo uz Optunu</a:t>
            </a:r>
          </a:p>
          <a:p>
            <a:pPr>
              <a:spcBef>
                <a:spcPts val="900"/>
              </a:spcBef>
            </a:pPr>
            <a:r>
              <a:rPr sz="150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D45"/>
                </a:solidFill>
                <a:latin typeface="Calibri"/>
              </a:rPr>
              <a:t>Rešenje: više scena u </a:t>
            </a:r>
            <a:r>
              <a:rPr sz="1500" b="1" i="0">
                <a:solidFill>
                  <a:srgbClr val="1F2D45"/>
                </a:solidFill>
                <a:latin typeface="Calibri"/>
              </a:rPr>
              <a:t>jednu blok-dijagonalnu matricu susedstva</a:t>
            </a:r>
          </a:p>
          <a:p>
            <a:pPr>
              <a:spcBef>
                <a:spcPts val="900"/>
              </a:spcBef>
            </a:pPr>
            <a:r>
              <a:rPr sz="1350" b="0" i="0">
                <a:solidFill>
                  <a:srgbClr val="6B7485"/>
                </a:solidFill>
                <a:latin typeface="Calibri"/>
              </a:rPr>
              <a:t>     •  </a:t>
            </a:r>
            <a:r>
              <a:rPr sz="1350" b="0" i="0">
                <a:solidFill>
                  <a:srgbClr val="6B7485"/>
                </a:solidFill>
                <a:latin typeface="Calibri"/>
              </a:rPr>
              <a:t>pešaci iz različitih scena nemaju granu → propagacija kroz graf je identična, ali je sve jedan GPU poziv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395728" y="3703320"/>
          <a:ext cx="7400237" cy="11521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73996"/>
                <a:gridCol w="1608747"/>
                <a:gridCol w="1608747"/>
                <a:gridCol w="1608747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Pre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Posle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Dobitak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Po epohi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62 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49C8B"/>
                          </a:solidFill>
                          <a:latin typeface="Calibri"/>
                        </a:rPr>
                        <a:t>2,6 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49C8B"/>
                          </a:solidFill>
                          <a:latin typeface="Calibri"/>
                        </a:rPr>
                        <a:t>24×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Svih 5 scena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~13 h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49C8B"/>
                          </a:solidFill>
                          <a:latin typeface="Calibri"/>
                        </a:rPr>
                        <a:t>~15 min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49C8B"/>
                          </a:solidFill>
                          <a:latin typeface="Calibri"/>
                        </a:rPr>
                        <a:t>24×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120640"/>
            <a:ext cx="11057839" cy="1051560"/>
          </a:xfrm>
          <a:prstGeom prst="roundRect">
            <a:avLst>
              <a:gd name="adj" fmla="val 6000"/>
            </a:avLst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276088"/>
            <a:ext cx="10509199" cy="777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DE7B28"/>
                </a:solidFill>
                <a:latin typeface="Calibri"/>
              </a:rPr>
              <a:t>Poštena napomena: 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propagacija kroz graf jeste identična, ali </a:t>
            </a:r>
            <a:r>
              <a:rPr sz="1350" b="1" i="0">
                <a:solidFill>
                  <a:srgbClr val="1F2D45"/>
                </a:solidFill>
                <a:latin typeface="Calibri"/>
              </a:rPr>
              <a:t>BatchNorm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 sada računa statistike preko celog batch-a umesto preko jedne scene — standardno ponašanje mini-batch treninga, ali nije bit-identičan račun. To treba navesti, a ne prećutati.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49C8B"/>
                </a:solidFill>
                <a:latin typeface="Calibri"/>
              </a:rPr>
              <a:t>PRAKTIČNI 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 i="0">
                <a:solidFill>
                  <a:srgbClr val="1F2D45"/>
                </a:solidFill>
                <a:latin typeface="Calibri"/>
              </a:rPr>
              <a:t>Optuna: automatska kalibracija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50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00" b="1" i="0">
                <a:solidFill>
                  <a:srgbClr val="1F2D45"/>
                </a:solidFill>
                <a:latin typeface="Calibri"/>
              </a:rPr>
              <a:t>TPE sampler</a:t>
            </a:r>
            <a:r>
              <a:rPr sz="1500" b="0" i="0">
                <a:solidFill>
                  <a:srgbClr val="1F2D45"/>
                </a:solidFill>
                <a:latin typeface="Calibri"/>
              </a:rPr>
              <a:t> (Bayesovska optimizacija) gradi verovatnosni model hiperparametri → validacioni ADE i bira gde je očekivano poboljšanje najveće</a:t>
            </a:r>
          </a:p>
          <a:p>
            <a:pPr>
              <a:spcBef>
                <a:spcPts val="900"/>
              </a:spcBef>
            </a:pPr>
            <a:r>
              <a:rPr sz="150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00" b="1" i="0">
                <a:solidFill>
                  <a:srgbClr val="1F2D45"/>
                </a:solidFill>
                <a:latin typeface="Calibri"/>
              </a:rPr>
              <a:t>MedianPruner</a:t>
            </a:r>
            <a:r>
              <a:rPr sz="1500" b="0" i="0">
                <a:solidFill>
                  <a:srgbClr val="1F2D45"/>
                </a:solidFill>
                <a:latin typeface="Calibri"/>
              </a:rPr>
              <a:t> prekida trial koji zaostaje za medijanom → velika ušteda vremena</a:t>
            </a:r>
          </a:p>
          <a:p>
            <a:pPr>
              <a:spcBef>
                <a:spcPts val="900"/>
              </a:spcBef>
            </a:pPr>
            <a:r>
              <a:rPr sz="150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D45"/>
                </a:solidFill>
                <a:latin typeface="Calibri"/>
              </a:rPr>
              <a:t>Prostor pretrage: learning rate (log skala), broj graf blokova, dubina vremenskog dekodera, veličina kernela, dropout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788920"/>
          <a:ext cx="11057835" cy="12070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36416"/>
                <a:gridCol w="1242453"/>
                <a:gridCol w="1242453"/>
                <a:gridCol w="1863680"/>
                <a:gridCol w="4472833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Pretraga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Trial-ova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Prekinuto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Najbolji val ADE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Najbolja konfiguracija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LSTM (zara1)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0,4283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hidden=256, lr=0,0032, slojeva=1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ST-GCNN (zara1)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49C8B"/>
                          </a:solidFill>
                          <a:latin typeface="Calibri"/>
                        </a:rPr>
                        <a:t>0,3894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n_stgcnn=2, n_txpcnn=7, kernel=5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148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50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D45"/>
                </a:solidFill>
                <a:latin typeface="Calibri"/>
              </a:rPr>
              <a:t>Pretraga </a:t>
            </a:r>
            <a:r>
              <a:rPr sz="1500" b="1" i="0">
                <a:solidFill>
                  <a:srgbClr val="1F2D45"/>
                </a:solidFill>
                <a:latin typeface="Calibri"/>
              </a:rPr>
              <a:t>nije</a:t>
            </a:r>
            <a:r>
              <a:rPr sz="1500" b="0" i="0">
                <a:solidFill>
                  <a:srgbClr val="1F2D45"/>
                </a:solidFill>
                <a:latin typeface="Calibri"/>
              </a:rPr>
              <a:t> birala više graf slojeva, nego dublju vremensku obradu — nezavisan signal koji ide u prilog glavnom nalazu</a:t>
            </a:r>
          </a:p>
          <a:p>
            <a:pPr>
              <a:spcBef>
                <a:spcPts val="900"/>
              </a:spcBef>
            </a:pPr>
            <a:r>
              <a:rPr sz="150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DE7B28"/>
                </a:solidFill>
                <a:latin typeface="Calibri"/>
              </a:rPr>
              <a:t>Finalni trening sa nađenim parametrima: val ADE 0,381 → 0,374, ali test </a:t>
            </a:r>
            <a:r>
              <a:rPr sz="1500" b="1" i="0">
                <a:solidFill>
                  <a:srgbClr val="DE7B28"/>
                </a:solidFill>
                <a:latin typeface="Calibri"/>
              </a:rPr>
              <a:t>nepromenjen</a:t>
            </a:r>
            <a:r>
              <a:rPr sz="1500" b="0" i="0">
                <a:solidFill>
                  <a:srgbClr val="DE7B28"/>
                </a:solidFill>
                <a:latin typeface="Calibri"/>
              </a:rPr>
              <a:t> (0,283) — dobitak je bio unutar šuma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486400"/>
            <a:ext cx="11057839" cy="822960"/>
          </a:xfrm>
          <a:prstGeom prst="roundRect">
            <a:avLst>
              <a:gd name="adj" fmla="val 6000"/>
            </a:avLst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641848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49C8B"/>
                </a:solidFill>
                <a:latin typeface="Calibri"/>
              </a:rPr>
              <a:t>Metodološko pravilo: 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optimizuje se </a:t>
            </a:r>
            <a:r>
              <a:rPr sz="1350" b="1" i="0">
                <a:solidFill>
                  <a:srgbClr val="1F2D45"/>
                </a:solidFill>
                <a:latin typeface="Calibri"/>
              </a:rPr>
              <a:t>validacioni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 ADE — biranje hiperparametara po test skupu je curenje informacija koje tiho naduvava rezultat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49C8B"/>
                </a:solidFill>
                <a:latin typeface="Calibri"/>
              </a:rPr>
              <a:t>PRAKTIČNI 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 i="0">
                <a:solidFill>
                  <a:srgbClr val="1F2D45"/>
                </a:solidFill>
                <a:latin typeface="Calibri"/>
              </a:rPr>
              <a:t>Rezultati 1: poređenje kakvo se obično radi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64208" y="1325880"/>
          <a:ext cx="8863278" cy="24323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4108"/>
                <a:gridCol w="1694450"/>
                <a:gridCol w="1694450"/>
                <a:gridCol w="1955135"/>
                <a:gridCol w="1955135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Scena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LSTM ADE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LSTM FDE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ST-GCNN ADE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ST-GCNN FDE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ETH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1,007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1,996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1,043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2,113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HOTEL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0,457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0,936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0,436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0,880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UNIV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0,577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1,278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0,568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1,202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ZARA1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0,402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0,886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0,419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0,904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ZARA2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0,316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0,699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0,350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0,761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F2D45"/>
                          </a:solidFill>
                          <a:latin typeface="Calibri"/>
                        </a:rPr>
                        <a:t>PROSEK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49C8B"/>
                          </a:solidFill>
                          <a:latin typeface="Calibri"/>
                        </a:rPr>
                        <a:t>0,552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49C8B"/>
                          </a:solidFill>
                          <a:latin typeface="Calibri"/>
                        </a:rPr>
                        <a:t>1,159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F2D45"/>
                          </a:solidFill>
                          <a:latin typeface="Calibri"/>
                        </a:rPr>
                        <a:t>0,563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F2D45"/>
                          </a:solidFill>
                          <a:latin typeface="Calibri"/>
                        </a:rPr>
                        <a:t>1,172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977639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50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D45"/>
                </a:solidFill>
                <a:latin typeface="Calibri"/>
              </a:rPr>
              <a:t>Deterministički, graf model je u proseku čak </a:t>
            </a:r>
            <a:r>
              <a:rPr sz="1500" b="1" i="0">
                <a:solidFill>
                  <a:srgbClr val="1F2D45"/>
                </a:solidFill>
                <a:latin typeface="Calibri"/>
              </a:rPr>
              <a:t>neznatno lošiji</a:t>
            </a:r>
            <a:r>
              <a:rPr sz="1500" b="0" i="0">
                <a:solidFill>
                  <a:srgbClr val="1F2D45"/>
                </a:solidFill>
                <a:latin typeface="Calibri"/>
              </a:rPr>
              <a:t> (0,563 naspram 0,552 m)</a:t>
            </a:r>
          </a:p>
          <a:p>
            <a:pPr>
              <a:spcBef>
                <a:spcPts val="900"/>
              </a:spcBef>
            </a:pPr>
            <a:r>
              <a:rPr sz="150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C0392B"/>
                </a:solidFill>
                <a:latin typeface="Calibri"/>
              </a:rPr>
              <a:t>Ali ovo poređenje je </a:t>
            </a:r>
            <a:r>
              <a:rPr sz="1500" b="1" i="0">
                <a:solidFill>
                  <a:srgbClr val="C0392B"/>
                </a:solidFill>
                <a:latin typeface="Calibri"/>
              </a:rPr>
              <a:t>konfundirano</a:t>
            </a:r>
            <a:r>
              <a:rPr sz="1500" b="0" i="0">
                <a:solidFill>
                  <a:srgbClr val="C0392B"/>
                </a:solidFill>
                <a:latin typeface="Calibri"/>
              </a:rPr>
              <a:t> — LSTM je treniran L2 kriterijumom, ST-GCNN NLL-om</a:t>
            </a:r>
          </a:p>
          <a:p>
            <a:pPr>
              <a:spcBef>
                <a:spcPts val="900"/>
              </a:spcBef>
            </a:pPr>
            <a:r>
              <a:rPr sz="1350" b="0" i="0">
                <a:solidFill>
                  <a:srgbClr val="6B7485"/>
                </a:solidFill>
                <a:latin typeface="Calibri"/>
              </a:rPr>
              <a:t>     •  </a:t>
            </a:r>
            <a:r>
              <a:rPr sz="1350" b="0" i="0">
                <a:solidFill>
                  <a:srgbClr val="6B7485"/>
                </a:solidFill>
                <a:latin typeface="Calibri"/>
              </a:rPr>
              <a:t>srednja vrednost NLL modela nije optimizovana da minimizuje L2 grešku</a:t>
            </a:r>
          </a:p>
          <a:p>
            <a:pPr>
              <a:spcBef>
                <a:spcPts val="900"/>
              </a:spcBef>
            </a:pPr>
            <a:r>
              <a:rPr sz="1350" b="0" i="0">
                <a:solidFill>
                  <a:srgbClr val="6B7485"/>
                </a:solidFill>
                <a:latin typeface="Calibri"/>
              </a:rPr>
              <a:t>     •  </a:t>
            </a:r>
            <a:r>
              <a:rPr sz="1350" b="0" i="0">
                <a:solidFill>
                  <a:srgbClr val="6B7485"/>
                </a:solidFill>
                <a:latin typeface="Calibri"/>
              </a:rPr>
              <a:t>razlika meri i promenu funkcije gubitka, ne samo doprinos grafa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623560"/>
            <a:ext cx="11057839" cy="731520"/>
          </a:xfrm>
          <a:prstGeom prst="roundRect">
            <a:avLst>
              <a:gd name="adj" fmla="val 6000"/>
            </a:avLst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779008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DE7B28"/>
                </a:solidFill>
                <a:latin typeface="Calibri"/>
              </a:rPr>
              <a:t>Zaključak: 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iz ove tabele se </a:t>
            </a:r>
            <a:r>
              <a:rPr sz="1350" b="1" i="0">
                <a:solidFill>
                  <a:srgbClr val="1F2D45"/>
                </a:solidFill>
                <a:latin typeface="Calibri"/>
              </a:rPr>
              <a:t>ne sme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 izvesti zaključak o socijalnom modelovanju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49C8B"/>
                </a:solidFill>
                <a:latin typeface="Calibri"/>
              </a:rPr>
              <a:t>PRAKTIČNI 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 i="0">
                <a:solidFill>
                  <a:srgbClr val="1F2D45"/>
                </a:solidFill>
                <a:latin typeface="Calibri"/>
              </a:rPr>
              <a:t>Rezultati 2: kontrolisano poređenje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161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B7485"/>
                </a:solidFill>
                <a:latin typeface="Calibri"/>
              </a:rPr>
              <a:t>Identična Gausova glava · identičan NLL gubitak · identičan best-of-20 protokol — razlikuje se SAMO arhitektura (oba modela: 250 epoha)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81328" y="1572768"/>
          <a:ext cx="9229036" cy="24323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96600"/>
                <a:gridCol w="1995467"/>
                <a:gridCol w="1995467"/>
                <a:gridCol w="1870751"/>
                <a:gridCol w="1870751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Scena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LSTM-prob ADE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LSTM-prob FDE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ST-GCNN ADE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ST-GCNN FDE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ETH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0,775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1,405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0,819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1,582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HOTEL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0,342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0,659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0,311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0,561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UNIV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0,411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0,816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0,412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0,803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ZARA1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0,276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0,497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0,283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0,498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ZARA2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0,221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0,428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0,251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0,474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F2D45"/>
                          </a:solidFill>
                          <a:latin typeface="Calibri"/>
                        </a:rPr>
                        <a:t>PROSEK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49C8B"/>
                          </a:solidFill>
                          <a:latin typeface="Calibri"/>
                        </a:rPr>
                        <a:t>0,405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49C8B"/>
                          </a:solidFill>
                          <a:latin typeface="Calibri"/>
                        </a:rPr>
                        <a:t>0,761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F2D45"/>
                          </a:solidFill>
                          <a:latin typeface="Calibri"/>
                        </a:rPr>
                        <a:t>0,415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F2D45"/>
                          </a:solidFill>
                          <a:latin typeface="Calibri"/>
                        </a:rPr>
                        <a:t>0,784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224528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50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D45"/>
                </a:solidFill>
                <a:latin typeface="Calibri"/>
              </a:rPr>
              <a:t>Model koji </a:t>
            </a:r>
            <a:r>
              <a:rPr sz="1500" b="1" i="0">
                <a:solidFill>
                  <a:srgbClr val="1F2D45"/>
                </a:solidFill>
                <a:latin typeface="Calibri"/>
              </a:rPr>
              <a:t>uopšte ne vidi druge agente</a:t>
            </a:r>
            <a:r>
              <a:rPr sz="1500" b="0" i="0">
                <a:solidFill>
                  <a:srgbClr val="1F2D45"/>
                </a:solidFill>
                <a:latin typeface="Calibri"/>
              </a:rPr>
              <a:t> je u proseku bolji (0,405 vs 0,415 m)</a:t>
            </a:r>
          </a:p>
          <a:p>
            <a:pPr>
              <a:spcBef>
                <a:spcPts val="900"/>
              </a:spcBef>
            </a:pPr>
            <a:r>
              <a:rPr sz="150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D45"/>
                </a:solidFill>
                <a:latin typeface="Calibri"/>
              </a:rPr>
              <a:t>ST-GCNN pobeđuje samo na </a:t>
            </a:r>
            <a:r>
              <a:rPr sz="1500" b="1" i="0">
                <a:solidFill>
                  <a:srgbClr val="1F2D45"/>
                </a:solidFill>
                <a:latin typeface="Calibri"/>
              </a:rPr>
              <a:t>HOTEL</a:t>
            </a:r>
            <a:r>
              <a:rPr sz="1500" b="0" i="0">
                <a:solidFill>
                  <a:srgbClr val="1F2D45"/>
                </a:solidFill>
                <a:latin typeface="Calibri"/>
              </a:rPr>
              <a:t> sceni — jedinoj gde mnogo ljudi stoji, pa je „nastavi pravo“ najslabija heuristika; na ostale četiri gubi</a:t>
            </a:r>
          </a:p>
          <a:p>
            <a:pPr>
              <a:spcBef>
                <a:spcPts val="900"/>
              </a:spcBef>
            </a:pPr>
            <a:r>
              <a:rPr sz="150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D45"/>
                </a:solidFill>
                <a:latin typeface="Calibri"/>
              </a:rPr>
              <a:t>Nije greška implementacije — oba modela reprodukuju objavljene rezultate (ST-GCNN 0,415 naspram objavljenih 0,44)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669280"/>
            <a:ext cx="11057839" cy="731520"/>
          </a:xfrm>
          <a:prstGeom prst="roundRect">
            <a:avLst>
              <a:gd name="adj" fmla="val 6000"/>
            </a:avLst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824728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C0392B"/>
                </a:solidFill>
                <a:latin typeface="Calibri"/>
              </a:rPr>
              <a:t>Nalaz: 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na ETH-UCY, pri horizontu od 4,8 s, graf-bazirano modelovanje interakcija </a:t>
            </a:r>
            <a:r>
              <a:rPr sz="1350" b="1" i="0">
                <a:solidFill>
                  <a:srgbClr val="1F2D45"/>
                </a:solidFill>
                <a:latin typeface="Calibri"/>
              </a:rPr>
              <a:t>ne donosi prosečnu prednost</a:t>
            </a:r>
            <a:r>
              <a:rPr sz="1350" b="0" i="0">
                <a:solidFill>
                  <a:srgbClr val="1F2D45"/>
                </a:solidFill>
                <a:latin typeface="Calibri"/>
              </a:rPr>
              <a:t> — saglasno sa Schöller i sar. (2020)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49C8B"/>
                </a:solidFill>
                <a:latin typeface="Calibri"/>
              </a:rPr>
              <a:t>PRAKTIČNI 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 i="0">
                <a:solidFill>
                  <a:srgbClr val="1F2D45"/>
                </a:solidFill>
                <a:latin typeface="Calibri"/>
              </a:rPr>
              <a:t>Kvalitativna analiza</a:t>
            </a:r>
          </a:p>
        </p:txBody>
      </p:sp>
      <p:pic>
        <p:nvPicPr>
          <p:cNvPr id="5" name="Picture 4" descr="trajectories_zara1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325880"/>
            <a:ext cx="3534508" cy="3063240"/>
          </a:xfrm>
          <a:prstGeom prst="rect">
            <a:avLst/>
          </a:prstGeom>
        </p:spPr>
      </p:pic>
      <p:pic>
        <p:nvPicPr>
          <p:cNvPr id="6" name="Picture 5" descr="heatmap_zara1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887" y="1325880"/>
            <a:ext cx="3534508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7091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4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450" b="0" i="0">
                <a:solidFill>
                  <a:srgbClr val="1F2D45"/>
                </a:solidFill>
                <a:latin typeface="Calibri"/>
              </a:rPr>
              <a:t>Levo: predikcije oba modela naspram stvarne putanje — </a:t>
            </a:r>
            <a:r>
              <a:rPr sz="1450" b="1" i="0">
                <a:solidFill>
                  <a:srgbClr val="1F2D45"/>
                </a:solidFill>
                <a:latin typeface="Calibri"/>
              </a:rPr>
              <a:t>međusobno gotovo nerazlučive</a:t>
            </a:r>
          </a:p>
          <a:p>
            <a:pPr>
              <a:spcBef>
                <a:spcPts val="900"/>
              </a:spcBef>
            </a:pPr>
            <a:r>
              <a:rPr sz="14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450" b="0" i="0">
                <a:solidFill>
                  <a:srgbClr val="1F2D45"/>
                </a:solidFill>
                <a:latin typeface="Calibri"/>
              </a:rPr>
              <a:t>Desno: 2.000 uzoraka iz naučene raspodele → gustina se </a:t>
            </a:r>
            <a:r>
              <a:rPr sz="1450" b="1" i="0">
                <a:solidFill>
                  <a:srgbClr val="1F2D45"/>
                </a:solidFill>
                <a:latin typeface="Calibri"/>
              </a:rPr>
              <a:t>širi sa horizontom</a:t>
            </a:r>
            <a:r>
              <a:rPr sz="1450" b="0" i="0">
                <a:solidFill>
                  <a:srgbClr val="1F2D45"/>
                </a:solidFill>
                <a:latin typeface="Calibri"/>
              </a:rPr>
              <a:t> i razdvaja po smeru kretanja</a:t>
            </a:r>
          </a:p>
          <a:p>
            <a:pPr>
              <a:spcBef>
                <a:spcPts val="900"/>
              </a:spcBef>
            </a:pPr>
            <a:r>
              <a:rPr sz="14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450" b="0" i="0">
                <a:solidFill>
                  <a:srgbClr val="1F2D45"/>
                </a:solidFill>
                <a:latin typeface="Calibri"/>
              </a:rPr>
              <a:t>To polje je direktno upotrebljivo kao </a:t>
            </a:r>
            <a:r>
              <a:rPr sz="1450" b="1" i="0">
                <a:solidFill>
                  <a:srgbClr val="1F2D45"/>
                </a:solidFill>
                <a:latin typeface="Calibri"/>
              </a:rPr>
              <a:t>mapa cene</a:t>
            </a:r>
            <a:r>
              <a:rPr sz="1450" b="0" i="0">
                <a:solidFill>
                  <a:srgbClr val="1F2D45"/>
                </a:solidFill>
                <a:latin typeface="Calibri"/>
              </a:rPr>
              <a:t> za socijalno svestan planer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 i="0">
                <a:solidFill>
                  <a:srgbClr val="1F2D45"/>
                </a:solidFill>
                <a:latin typeface="Calibri"/>
              </a:rPr>
              <a:t>Zaključak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80160"/>
          <a:ext cx="11057838" cy="2103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99643"/>
                <a:gridCol w="7058195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Pitanje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Odgovor iz eksperimenta</a:t>
                      </a:r>
                    </a:p>
                  </a:txBody>
                  <a:tcPr anchor="ctr" marL="73152" marR="73152">
                    <a:solidFill>
                      <a:srgbClr val="1F2D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Da li graf modelovanje interakcija pomaže?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0392B"/>
                          </a:solidFill>
                          <a:latin typeface="Calibri"/>
                        </a:rPr>
                        <a:t>ne donosi prosečnu prednost (0,415 vs 0,405 m ADE)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Šta onda jeste pomoglo?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49C8B"/>
                          </a:solidFill>
                          <a:latin typeface="Calibri"/>
                        </a:rPr>
                        <a:t>modelovanje neizvesnosti: 0,552 → 0,405 m ADE (−27 %)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Ima li graf ikakvu prednost?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49C8B"/>
                          </a:solidFill>
                          <a:latin typeface="Calibri"/>
                        </a:rPr>
                        <a:t>da — ista tačnost uz 26× manje parametara (7.563 vs 199.106)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Zašto se to ranije nije videlo?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D45"/>
                          </a:solidFill>
                          <a:latin typeface="Calibri"/>
                        </a:rPr>
                        <a:t>poređenje je konfundirano funkcijom gubitka</a:t>
                      </a:r>
                    </a:p>
                  </a:txBody>
                  <a:tcPr anchor="ctr" marL="73152" marR="73152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52044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4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450" b="1" i="0">
                <a:solidFill>
                  <a:srgbClr val="1F2D45"/>
                </a:solidFill>
                <a:latin typeface="Calibri"/>
              </a:rPr>
              <a:t>Metodološki doprinos:</a:t>
            </a:r>
            <a:r>
              <a:rPr sz="1450" b="0" i="0">
                <a:solidFill>
                  <a:srgbClr val="1F2D45"/>
                </a:solidFill>
                <a:latin typeface="Calibri"/>
              </a:rPr>
              <a:t> kontrolisani eksperiment koji izoluje jednu promenljivu — poređenje sa nekontrolisanim gubitkom ne meri ono što tvrdi da meri</a:t>
            </a:r>
          </a:p>
          <a:p>
            <a:pPr>
              <a:spcBef>
                <a:spcPts val="900"/>
              </a:spcBef>
            </a:pPr>
            <a:r>
              <a:rPr sz="14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450" b="1" i="0">
                <a:solidFill>
                  <a:srgbClr val="1F2D45"/>
                </a:solidFill>
                <a:latin typeface="Calibri"/>
              </a:rPr>
              <a:t>Implikacija za robotiku:</a:t>
            </a:r>
            <a:r>
              <a:rPr sz="1450" b="0" i="0">
                <a:solidFill>
                  <a:srgbClr val="1F2D45"/>
                </a:solidFill>
                <a:latin typeface="Calibri"/>
              </a:rPr>
              <a:t> planeru najviše treba kalibrisana raspodela budućih pozicija, a ne nužno struktura interakcija</a:t>
            </a:r>
          </a:p>
          <a:p>
            <a:pPr>
              <a:spcBef>
                <a:spcPts val="900"/>
              </a:spcBef>
            </a:pPr>
            <a:r>
              <a:rPr sz="1450" b="1" i="0">
                <a:solidFill>
                  <a:srgbClr val="149C8B"/>
                </a:solidFill>
                <a:latin typeface="Calibri"/>
              </a:rPr>
              <a:t>▸ </a:t>
            </a:r>
            <a:r>
              <a:rPr sz="1450" b="1" i="0">
                <a:solidFill>
                  <a:srgbClr val="6B7485"/>
                </a:solidFill>
                <a:latin typeface="Calibri"/>
              </a:rPr>
              <a:t>Dalji rad:</a:t>
            </a:r>
            <a:r>
              <a:rPr sz="1450" b="0" i="0">
                <a:solidFill>
                  <a:srgbClr val="6B7485"/>
                </a:solidFill>
                <a:latin typeface="Calibri"/>
              </a:rPr>
              <a:t> duži horizont predikcije (8–10 s) kao direktan test hipoteze o inerciji · semantička mapa · integracija sa planerom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F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91072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Hvala na pažnji — pitanja?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